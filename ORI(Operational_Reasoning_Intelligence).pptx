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58" r:id="rId7"/>
    <p:sldId id="259" r:id="rId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F1241A-85CD-4EF6-9A28-ECC575DAAE67}" v="4" dt="2026-05-26T05:05:04.5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0" d="100"/>
          <a:sy n="100" d="100"/>
        </p:scale>
        <p:origin x="946"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84048" y="118872"/>
            <a:ext cx="7680960" cy="400110"/>
          </a:xfrm>
          <a:prstGeom prst="rect">
            <a:avLst/>
          </a:prstGeom>
          <a:noFill/>
        </p:spPr>
        <p:txBody>
          <a:bodyPr wrap="square">
            <a:spAutoFit/>
          </a:bodyPr>
          <a:lstStyle/>
          <a:p>
            <a:r>
              <a:rPr lang="en-US" sz="2000" b="1" dirty="0"/>
              <a:t>Operational Reasoning Intelligence</a:t>
            </a:r>
            <a:endParaRPr sz="1900" b="1" dirty="0">
              <a:solidFill>
                <a:srgbClr val="000000"/>
              </a:solidFill>
            </a:endParaRPr>
          </a:p>
        </p:txBody>
      </p:sp>
      <p:sp>
        <p:nvSpPr>
          <p:cNvPr id="3" name="TextBox 2"/>
          <p:cNvSpPr txBox="1"/>
          <p:nvPr/>
        </p:nvSpPr>
        <p:spPr>
          <a:xfrm>
            <a:off x="384048" y="457200"/>
            <a:ext cx="7772400" cy="164592"/>
          </a:xfrm>
          <a:prstGeom prst="rect">
            <a:avLst/>
          </a:prstGeom>
          <a:noFill/>
        </p:spPr>
        <p:txBody>
          <a:bodyPr wrap="square">
            <a:spAutoFit/>
          </a:bodyPr>
          <a:lstStyle/>
          <a:p>
            <a:pPr algn="l"/>
            <a:r>
              <a:rPr sz="850" b="0">
                <a:solidFill>
                  <a:srgbClr val="CCA23F"/>
                </a:solidFill>
              </a:rPr>
              <a:t>Operational Incident Intelligence  ·  Anthropic Claude  ·  Giskard AI  ·  ChromaDB  ·  Ofi</a:t>
            </a:r>
          </a:p>
        </p:txBody>
      </p:sp>
      <p:sp>
        <p:nvSpPr>
          <p:cNvPr id="4" name="Rectangle 3"/>
          <p:cNvSpPr/>
          <p:nvPr/>
        </p:nvSpPr>
        <p:spPr>
          <a:xfrm>
            <a:off x="384048" y="658368"/>
            <a:ext cx="8375904"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218688" y="749808"/>
            <a:ext cx="4572" cy="3712463"/>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144768" y="749808"/>
            <a:ext cx="4572" cy="3712463"/>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98675" y="837183"/>
            <a:ext cx="36576" cy="210312"/>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6057" y="809733"/>
            <a:ext cx="2697480" cy="210312"/>
          </a:xfrm>
          <a:prstGeom prst="rect">
            <a:avLst/>
          </a:prstGeom>
          <a:noFill/>
        </p:spPr>
        <p:txBody>
          <a:bodyPr wrap="square">
            <a:spAutoFit/>
          </a:bodyPr>
          <a:lstStyle/>
          <a:p>
            <a:pPr algn="l"/>
            <a:r>
              <a:rPr sz="1200" b="1" dirty="0">
                <a:solidFill>
                  <a:srgbClr val="000000"/>
                </a:solidFill>
              </a:rPr>
              <a:t>Challenge</a:t>
            </a:r>
          </a:p>
        </p:txBody>
      </p:sp>
      <p:sp>
        <p:nvSpPr>
          <p:cNvPr id="9" name="Rectangle 8"/>
          <p:cNvSpPr/>
          <p:nvPr/>
        </p:nvSpPr>
        <p:spPr>
          <a:xfrm>
            <a:off x="390906" y="1078923"/>
            <a:ext cx="269748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1081209"/>
            <a:ext cx="2697480" cy="954107"/>
          </a:xfrm>
          <a:prstGeom prst="rect">
            <a:avLst/>
          </a:prstGeom>
          <a:noFill/>
        </p:spPr>
        <p:txBody>
          <a:bodyPr wrap="square">
            <a:spAutoFit/>
          </a:bodyPr>
          <a:lstStyle/>
          <a:p>
            <a:r>
              <a:rPr lang="en-US" sz="800" dirty="0">
                <a:solidFill>
                  <a:srgbClr val="333333"/>
                </a:solidFill>
                <a:latin typeface="Calibri" pitchFamily="34" charset="0"/>
                <a:ea typeface="Calibri" pitchFamily="34" charset="-122"/>
                <a:cs typeface="Calibri" pitchFamily="34" charset="-120"/>
              </a:rPr>
              <a:t>Modern enterprises generate thousands of operational signals like alerts, failed jobs, deployment issues, API latency spikes. Existing observability tools show metrics, traces, and logs, but do NOT explain what failed, why it failed, or what engineers should investigate next. Manual RCA is slow, operational knowledge is fragmented, and AI-generated root causes cannot be blindly trusted without validation.</a:t>
            </a:r>
            <a:endParaRPr lang="en-US" sz="800" dirty="0"/>
          </a:p>
        </p:txBody>
      </p:sp>
      <p:sp>
        <p:nvSpPr>
          <p:cNvPr id="11" name="Rectangle 10"/>
          <p:cNvSpPr/>
          <p:nvPr/>
        </p:nvSpPr>
        <p:spPr>
          <a:xfrm>
            <a:off x="390906" y="2098203"/>
            <a:ext cx="2697480" cy="40233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83230" y="2092920"/>
            <a:ext cx="36576" cy="402336"/>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465" y="2139696"/>
            <a:ext cx="2569464" cy="323165"/>
          </a:xfrm>
          <a:prstGeom prst="rect">
            <a:avLst/>
          </a:prstGeom>
          <a:noFill/>
        </p:spPr>
        <p:txBody>
          <a:bodyPr wrap="square">
            <a:spAutoFit/>
          </a:bodyPr>
          <a:lstStyle/>
          <a:p>
            <a:pPr algn="l"/>
            <a:r>
              <a:rPr sz="750" b="0" dirty="0">
                <a:solidFill>
                  <a:srgbClr val="000000"/>
                </a:solidFill>
              </a:rPr>
              <a:t>"Every major incident repeats the same 3-hour investigation. We have the data </a:t>
            </a:r>
            <a:r>
              <a:rPr lang="en-US" sz="750" dirty="0">
                <a:solidFill>
                  <a:srgbClr val="000000"/>
                </a:solidFill>
              </a:rPr>
              <a:t>BUT </a:t>
            </a:r>
            <a:r>
              <a:rPr sz="750" b="0" dirty="0">
                <a:solidFill>
                  <a:srgbClr val="000000"/>
                </a:solidFill>
              </a:rPr>
              <a:t>we just never ask the right questions."</a:t>
            </a:r>
          </a:p>
        </p:txBody>
      </p:sp>
      <p:sp>
        <p:nvSpPr>
          <p:cNvPr id="14" name="Rectangle 13"/>
          <p:cNvSpPr/>
          <p:nvPr/>
        </p:nvSpPr>
        <p:spPr>
          <a:xfrm>
            <a:off x="383230" y="2556975"/>
            <a:ext cx="36576" cy="210312"/>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4340" y="2541687"/>
            <a:ext cx="2697480" cy="210312"/>
          </a:xfrm>
          <a:prstGeom prst="rect">
            <a:avLst/>
          </a:prstGeom>
          <a:noFill/>
        </p:spPr>
        <p:txBody>
          <a:bodyPr wrap="square">
            <a:spAutoFit/>
          </a:bodyPr>
          <a:lstStyle/>
          <a:p>
            <a:pPr algn="l"/>
            <a:r>
              <a:rPr sz="1200" b="1">
                <a:solidFill>
                  <a:srgbClr val="000000"/>
                </a:solidFill>
              </a:rPr>
              <a:t>Solution</a:t>
            </a:r>
          </a:p>
        </p:txBody>
      </p:sp>
      <p:sp>
        <p:nvSpPr>
          <p:cNvPr id="16" name="Rectangle 15"/>
          <p:cNvSpPr/>
          <p:nvPr/>
        </p:nvSpPr>
        <p:spPr>
          <a:xfrm>
            <a:off x="357025" y="2785248"/>
            <a:ext cx="269748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8675" y="2798064"/>
            <a:ext cx="2697480" cy="707886"/>
          </a:xfrm>
          <a:prstGeom prst="rect">
            <a:avLst/>
          </a:prstGeom>
          <a:noFill/>
        </p:spPr>
        <p:txBody>
          <a:bodyPr wrap="square">
            <a:spAutoFit/>
          </a:bodyPr>
          <a:lstStyle/>
          <a:p>
            <a:pPr algn="l"/>
            <a:r>
              <a:rPr sz="800" b="0" dirty="0">
                <a:solidFill>
                  <a:srgbClr val="444444"/>
                </a:solidFill>
              </a:rPr>
              <a:t>An AI reasoning layer that ingests incident signals </a:t>
            </a:r>
            <a:r>
              <a:rPr lang="en-US" sz="800" b="0" dirty="0">
                <a:solidFill>
                  <a:srgbClr val="444444"/>
                </a:solidFill>
              </a:rPr>
              <a:t>such as</a:t>
            </a:r>
            <a:r>
              <a:rPr sz="800" b="0" dirty="0">
                <a:solidFill>
                  <a:srgbClr val="444444"/>
                </a:solidFill>
              </a:rPr>
              <a:t> alerts, logs, tickets, deployments </a:t>
            </a:r>
            <a:r>
              <a:rPr lang="en-US" sz="800" b="0" dirty="0">
                <a:solidFill>
                  <a:srgbClr val="444444"/>
                </a:solidFill>
              </a:rPr>
              <a:t>and</a:t>
            </a:r>
            <a:r>
              <a:rPr sz="800" b="0" dirty="0">
                <a:solidFill>
                  <a:srgbClr val="444444"/>
                </a:solidFill>
              </a:rPr>
              <a:t> correlates them against historical incidents and generates a validated, confidence-scored root cause analysis in under 60 seconds.</a:t>
            </a:r>
            <a:endParaRPr lang="en-US" sz="800" b="0" dirty="0">
              <a:solidFill>
                <a:srgbClr val="444444"/>
              </a:solidFill>
            </a:endParaRPr>
          </a:p>
          <a:p>
            <a:pPr algn="l"/>
            <a:endParaRPr sz="800" b="0" dirty="0">
              <a:solidFill>
                <a:srgbClr val="444444"/>
              </a:solidFill>
            </a:endParaRPr>
          </a:p>
        </p:txBody>
      </p:sp>
      <p:sp>
        <p:nvSpPr>
          <p:cNvPr id="18" name="TextBox 17"/>
          <p:cNvSpPr txBox="1"/>
          <p:nvPr/>
        </p:nvSpPr>
        <p:spPr>
          <a:xfrm>
            <a:off x="448465" y="3352726"/>
            <a:ext cx="2606040" cy="658368"/>
          </a:xfrm>
          <a:prstGeom prst="rect">
            <a:avLst/>
          </a:prstGeom>
          <a:noFill/>
        </p:spPr>
        <p:txBody>
          <a:bodyPr wrap="square">
            <a:spAutoFit/>
          </a:bodyPr>
          <a:lstStyle/>
          <a:p>
            <a:pPr algn="l"/>
            <a:r>
              <a:rPr sz="800" dirty="0">
                <a:solidFill>
                  <a:srgbClr val="444444"/>
                </a:solidFill>
              </a:rPr>
              <a:t>▸  Alert storms — correlated, not just counted</a:t>
            </a:r>
          </a:p>
          <a:p>
            <a:pPr algn="l"/>
            <a:r>
              <a:rPr sz="800" dirty="0">
                <a:solidFill>
                  <a:srgbClr val="444444"/>
                </a:solidFill>
              </a:rPr>
              <a:t>▸  Pipeline failures — root cause, not just error code</a:t>
            </a:r>
          </a:p>
          <a:p>
            <a:pPr algn="l"/>
            <a:r>
              <a:rPr sz="800" dirty="0">
                <a:solidFill>
                  <a:srgbClr val="444444"/>
                </a:solidFill>
              </a:rPr>
              <a:t>▸  Deployment regressions — linked to incident signals</a:t>
            </a:r>
          </a:p>
          <a:p>
            <a:pPr algn="l"/>
            <a:r>
              <a:rPr sz="800" dirty="0">
                <a:solidFill>
                  <a:srgbClr val="444444"/>
                </a:solidFill>
              </a:rPr>
              <a:t>▸  Repeat incidents — prevented via historical memory</a:t>
            </a:r>
          </a:p>
        </p:txBody>
      </p:sp>
      <p:sp>
        <p:nvSpPr>
          <p:cNvPr id="19" name="Rectangle 18"/>
          <p:cNvSpPr/>
          <p:nvPr/>
        </p:nvSpPr>
        <p:spPr>
          <a:xfrm>
            <a:off x="384048" y="3964482"/>
            <a:ext cx="2697480" cy="475488"/>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2181" y="3982323"/>
            <a:ext cx="475488" cy="475488"/>
          </a:xfrm>
          <a:prstGeom prst="rect">
            <a:avLst/>
          </a:prstGeom>
          <a:noFill/>
        </p:spPr>
        <p:txBody>
          <a:bodyPr wrap="square">
            <a:spAutoFit/>
          </a:bodyPr>
          <a:lstStyle/>
          <a:p>
            <a:pPr algn="l"/>
            <a:r>
              <a:rPr sz="1500" b="1" dirty="0">
                <a:solidFill>
                  <a:srgbClr val="CCA23F"/>
                </a:solidFill>
              </a:rPr>
              <a:t>ROI</a:t>
            </a:r>
          </a:p>
        </p:txBody>
      </p:sp>
      <p:sp>
        <p:nvSpPr>
          <p:cNvPr id="21" name="TextBox 20"/>
          <p:cNvSpPr txBox="1"/>
          <p:nvPr/>
        </p:nvSpPr>
        <p:spPr>
          <a:xfrm>
            <a:off x="960529" y="3950428"/>
            <a:ext cx="2093976" cy="475488"/>
          </a:xfrm>
          <a:prstGeom prst="rect">
            <a:avLst/>
          </a:prstGeom>
          <a:noFill/>
        </p:spPr>
        <p:txBody>
          <a:bodyPr wrap="square">
            <a:spAutoFit/>
          </a:bodyPr>
          <a:lstStyle/>
          <a:p>
            <a:r>
              <a:rPr sz="800" dirty="0">
                <a:solidFill>
                  <a:srgbClr val="FFFFFF"/>
                </a:solidFill>
              </a:rPr>
              <a:t>20× faster MTTR — 2 </a:t>
            </a:r>
            <a:r>
              <a:rPr sz="800" dirty="0" err="1">
                <a:solidFill>
                  <a:srgbClr val="FFFFFF"/>
                </a:solidFill>
              </a:rPr>
              <a:t>hrs</a:t>
            </a:r>
            <a:r>
              <a:rPr sz="800" dirty="0">
                <a:solidFill>
                  <a:srgbClr val="FFFFFF"/>
                </a:solidFill>
              </a:rPr>
              <a:t> → 6 min</a:t>
            </a:r>
          </a:p>
          <a:p>
            <a:r>
              <a:rPr sz="800" dirty="0">
                <a:solidFill>
                  <a:srgbClr val="FFFFFF"/>
                </a:solidFill>
              </a:rPr>
              <a:t>$50K–$500K saved per major incident avoided</a:t>
            </a:r>
          </a:p>
        </p:txBody>
      </p:sp>
      <p:sp>
        <p:nvSpPr>
          <p:cNvPr id="22" name="Rectangle 21"/>
          <p:cNvSpPr/>
          <p:nvPr/>
        </p:nvSpPr>
        <p:spPr>
          <a:xfrm>
            <a:off x="3337560" y="777240"/>
            <a:ext cx="36576" cy="210312"/>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29000" y="777240"/>
            <a:ext cx="2697480" cy="210312"/>
          </a:xfrm>
          <a:prstGeom prst="rect">
            <a:avLst/>
          </a:prstGeom>
          <a:noFill/>
        </p:spPr>
        <p:txBody>
          <a:bodyPr wrap="square">
            <a:spAutoFit/>
          </a:bodyPr>
          <a:lstStyle/>
          <a:p>
            <a:pPr algn="l"/>
            <a:r>
              <a:rPr sz="1200" b="1">
                <a:solidFill>
                  <a:srgbClr val="000000"/>
                </a:solidFill>
              </a:rPr>
              <a:t>Core AI Capabilities</a:t>
            </a:r>
          </a:p>
        </p:txBody>
      </p:sp>
      <p:sp>
        <p:nvSpPr>
          <p:cNvPr id="24" name="Rectangle 23"/>
          <p:cNvSpPr/>
          <p:nvPr/>
        </p:nvSpPr>
        <p:spPr>
          <a:xfrm>
            <a:off x="3337560" y="996695"/>
            <a:ext cx="269748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337560" y="1005840"/>
            <a:ext cx="269748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03320" y="1060704"/>
            <a:ext cx="2313432" cy="201168"/>
          </a:xfrm>
          <a:prstGeom prst="rect">
            <a:avLst/>
          </a:prstGeom>
          <a:noFill/>
        </p:spPr>
        <p:txBody>
          <a:bodyPr wrap="square">
            <a:spAutoFit/>
          </a:bodyPr>
          <a:lstStyle/>
          <a:p>
            <a:pPr algn="l"/>
            <a:r>
              <a:rPr sz="850" b="1">
                <a:solidFill>
                  <a:srgbClr val="000000"/>
                </a:solidFill>
              </a:rPr>
              <a:t>Signal Ingestion</a:t>
            </a:r>
          </a:p>
        </p:txBody>
      </p:sp>
      <p:sp>
        <p:nvSpPr>
          <p:cNvPr id="28" name="TextBox 27"/>
          <p:cNvSpPr txBox="1"/>
          <p:nvPr/>
        </p:nvSpPr>
        <p:spPr>
          <a:xfrm>
            <a:off x="3703320" y="1280160"/>
            <a:ext cx="2313432" cy="310896"/>
          </a:xfrm>
          <a:prstGeom prst="rect">
            <a:avLst/>
          </a:prstGeom>
          <a:noFill/>
        </p:spPr>
        <p:txBody>
          <a:bodyPr wrap="square">
            <a:spAutoFit/>
          </a:bodyPr>
          <a:lstStyle/>
          <a:p>
            <a:pPr algn="l"/>
            <a:r>
              <a:rPr sz="750" b="0">
                <a:solidFill>
                  <a:srgbClr val="444444"/>
                </a:solidFill>
              </a:rPr>
              <a:t>Parses alerts, logs, tickets and deployment notes into unified incident schema</a:t>
            </a:r>
          </a:p>
        </p:txBody>
      </p:sp>
      <p:sp>
        <p:nvSpPr>
          <p:cNvPr id="29" name="Rectangle 28"/>
          <p:cNvSpPr/>
          <p:nvPr/>
        </p:nvSpPr>
        <p:spPr>
          <a:xfrm>
            <a:off x="3337560" y="1627631"/>
            <a:ext cx="269748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350235" y="1767965"/>
            <a:ext cx="864108" cy="292388"/>
          </a:xfrm>
          <a:prstGeom prst="rect">
            <a:avLst/>
          </a:prstGeom>
          <a:noFill/>
        </p:spPr>
        <p:txBody>
          <a:bodyPr wrap="square">
            <a:spAutoFit/>
          </a:bodyPr>
          <a:lstStyle/>
          <a:p>
            <a:pPr algn="l"/>
            <a:r>
              <a:rPr lang="en-US" sz="1300" b="1" dirty="0">
                <a:solidFill>
                  <a:srgbClr val="13608B"/>
                </a:solidFill>
              </a:rPr>
              <a:t>2</a:t>
            </a:r>
            <a:endParaRPr sz="1300" b="1" dirty="0">
              <a:solidFill>
                <a:srgbClr val="13608B"/>
              </a:solidFill>
            </a:endParaRPr>
          </a:p>
        </p:txBody>
      </p:sp>
      <p:sp>
        <p:nvSpPr>
          <p:cNvPr id="31" name="TextBox 30"/>
          <p:cNvSpPr txBox="1"/>
          <p:nvPr/>
        </p:nvSpPr>
        <p:spPr>
          <a:xfrm>
            <a:off x="3703320" y="1645919"/>
            <a:ext cx="2313432" cy="201168"/>
          </a:xfrm>
          <a:prstGeom prst="rect">
            <a:avLst/>
          </a:prstGeom>
          <a:noFill/>
        </p:spPr>
        <p:txBody>
          <a:bodyPr wrap="square">
            <a:spAutoFit/>
          </a:bodyPr>
          <a:lstStyle/>
          <a:p>
            <a:pPr algn="l"/>
            <a:r>
              <a:rPr sz="850" b="1">
                <a:solidFill>
                  <a:srgbClr val="000000"/>
                </a:solidFill>
              </a:rPr>
              <a:t>Semantic Memory</a:t>
            </a:r>
          </a:p>
        </p:txBody>
      </p:sp>
      <p:sp>
        <p:nvSpPr>
          <p:cNvPr id="32" name="TextBox 31"/>
          <p:cNvSpPr txBox="1"/>
          <p:nvPr/>
        </p:nvSpPr>
        <p:spPr>
          <a:xfrm>
            <a:off x="3703320" y="1865376"/>
            <a:ext cx="2313432" cy="310896"/>
          </a:xfrm>
          <a:prstGeom prst="rect">
            <a:avLst/>
          </a:prstGeom>
          <a:noFill/>
        </p:spPr>
        <p:txBody>
          <a:bodyPr wrap="square">
            <a:spAutoFit/>
          </a:bodyPr>
          <a:lstStyle/>
          <a:p>
            <a:pPr algn="l"/>
            <a:r>
              <a:rPr sz="750" b="0">
                <a:solidFill>
                  <a:srgbClr val="444444"/>
                </a:solidFill>
              </a:rPr>
              <a:t>ChromaDB retrieves top-3 most similar historical incidents to inform reasoning</a:t>
            </a:r>
          </a:p>
        </p:txBody>
      </p:sp>
      <p:sp>
        <p:nvSpPr>
          <p:cNvPr id="33" name="Rectangle 32"/>
          <p:cNvSpPr/>
          <p:nvPr/>
        </p:nvSpPr>
        <p:spPr>
          <a:xfrm>
            <a:off x="3337560" y="2212848"/>
            <a:ext cx="269748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337560" y="2231136"/>
            <a:ext cx="347472" cy="292388"/>
          </a:xfrm>
          <a:prstGeom prst="rect">
            <a:avLst/>
          </a:prstGeom>
          <a:noFill/>
        </p:spPr>
        <p:txBody>
          <a:bodyPr wrap="square">
            <a:spAutoFit/>
          </a:bodyPr>
          <a:lstStyle/>
          <a:p>
            <a:pPr algn="l"/>
            <a:r>
              <a:rPr sz="1300" b="1" dirty="0">
                <a:solidFill>
                  <a:srgbClr val="13608B"/>
                </a:solidFill>
              </a:rPr>
              <a:t>3</a:t>
            </a:r>
          </a:p>
        </p:txBody>
      </p:sp>
      <p:sp>
        <p:nvSpPr>
          <p:cNvPr id="35" name="TextBox 34"/>
          <p:cNvSpPr txBox="1"/>
          <p:nvPr/>
        </p:nvSpPr>
        <p:spPr>
          <a:xfrm>
            <a:off x="3703320" y="2231136"/>
            <a:ext cx="2313432" cy="201168"/>
          </a:xfrm>
          <a:prstGeom prst="rect">
            <a:avLst/>
          </a:prstGeom>
          <a:noFill/>
        </p:spPr>
        <p:txBody>
          <a:bodyPr wrap="square">
            <a:spAutoFit/>
          </a:bodyPr>
          <a:lstStyle/>
          <a:p>
            <a:pPr algn="l"/>
            <a:r>
              <a:rPr sz="850" b="1">
                <a:solidFill>
                  <a:srgbClr val="000000"/>
                </a:solidFill>
              </a:rPr>
              <a:t>Claude RCA Reasoning</a:t>
            </a:r>
          </a:p>
        </p:txBody>
      </p:sp>
      <p:sp>
        <p:nvSpPr>
          <p:cNvPr id="36" name="TextBox 35"/>
          <p:cNvSpPr txBox="1"/>
          <p:nvPr/>
        </p:nvSpPr>
        <p:spPr>
          <a:xfrm>
            <a:off x="3703320" y="2450591"/>
            <a:ext cx="2313432" cy="310896"/>
          </a:xfrm>
          <a:prstGeom prst="rect">
            <a:avLst/>
          </a:prstGeom>
          <a:noFill/>
        </p:spPr>
        <p:txBody>
          <a:bodyPr wrap="square">
            <a:spAutoFit/>
          </a:bodyPr>
          <a:lstStyle/>
          <a:p>
            <a:pPr algn="l"/>
            <a:r>
              <a:rPr sz="750" b="0">
                <a:solidFill>
                  <a:srgbClr val="444444"/>
                </a:solidFill>
              </a:rPr>
              <a:t>200K-context Claude correlates all signals and generates probable root cause</a:t>
            </a:r>
          </a:p>
        </p:txBody>
      </p:sp>
      <p:sp>
        <p:nvSpPr>
          <p:cNvPr id="37" name="Rectangle 36"/>
          <p:cNvSpPr/>
          <p:nvPr/>
        </p:nvSpPr>
        <p:spPr>
          <a:xfrm>
            <a:off x="3337560" y="2798064"/>
            <a:ext cx="269748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337560" y="2816352"/>
            <a:ext cx="347472" cy="292388"/>
          </a:xfrm>
          <a:prstGeom prst="rect">
            <a:avLst/>
          </a:prstGeom>
          <a:noFill/>
        </p:spPr>
        <p:txBody>
          <a:bodyPr wrap="square">
            <a:spAutoFit/>
          </a:bodyPr>
          <a:lstStyle/>
          <a:p>
            <a:pPr algn="l"/>
            <a:r>
              <a:rPr sz="1300" b="1" dirty="0">
                <a:solidFill>
                  <a:srgbClr val="13608B"/>
                </a:solidFill>
              </a:rPr>
              <a:t>4</a:t>
            </a:r>
          </a:p>
        </p:txBody>
      </p:sp>
      <p:sp>
        <p:nvSpPr>
          <p:cNvPr id="39" name="TextBox 38"/>
          <p:cNvSpPr txBox="1"/>
          <p:nvPr/>
        </p:nvSpPr>
        <p:spPr>
          <a:xfrm>
            <a:off x="3703320" y="2816352"/>
            <a:ext cx="2313432" cy="201168"/>
          </a:xfrm>
          <a:prstGeom prst="rect">
            <a:avLst/>
          </a:prstGeom>
          <a:noFill/>
        </p:spPr>
        <p:txBody>
          <a:bodyPr wrap="square">
            <a:spAutoFit/>
          </a:bodyPr>
          <a:lstStyle/>
          <a:p>
            <a:pPr algn="l"/>
            <a:r>
              <a:rPr sz="850" b="1">
                <a:solidFill>
                  <a:srgbClr val="000000"/>
                </a:solidFill>
              </a:rPr>
              <a:t>Giskard Validation</a:t>
            </a:r>
          </a:p>
        </p:txBody>
      </p:sp>
      <p:sp>
        <p:nvSpPr>
          <p:cNvPr id="40" name="TextBox 39"/>
          <p:cNvSpPr txBox="1"/>
          <p:nvPr/>
        </p:nvSpPr>
        <p:spPr>
          <a:xfrm>
            <a:off x="3703320" y="3035808"/>
            <a:ext cx="2313432" cy="310896"/>
          </a:xfrm>
          <a:prstGeom prst="rect">
            <a:avLst/>
          </a:prstGeom>
          <a:noFill/>
        </p:spPr>
        <p:txBody>
          <a:bodyPr wrap="square">
            <a:spAutoFit/>
          </a:bodyPr>
          <a:lstStyle/>
          <a:p>
            <a:pPr algn="l"/>
            <a:r>
              <a:rPr sz="750" b="0">
                <a:solidFill>
                  <a:srgbClr val="444444"/>
                </a:solidFill>
              </a:rPr>
              <a:t>Every AI output is scanned for hallucinations and unsupported claims before surfacing</a:t>
            </a:r>
          </a:p>
        </p:txBody>
      </p:sp>
      <p:sp>
        <p:nvSpPr>
          <p:cNvPr id="41" name="Rectangle 40"/>
          <p:cNvSpPr/>
          <p:nvPr/>
        </p:nvSpPr>
        <p:spPr>
          <a:xfrm>
            <a:off x="3337560" y="3383280"/>
            <a:ext cx="269748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337560" y="3401568"/>
            <a:ext cx="347472" cy="292388"/>
          </a:xfrm>
          <a:prstGeom prst="rect">
            <a:avLst/>
          </a:prstGeom>
          <a:noFill/>
        </p:spPr>
        <p:txBody>
          <a:bodyPr wrap="square">
            <a:spAutoFit/>
          </a:bodyPr>
          <a:lstStyle/>
          <a:p>
            <a:pPr algn="l"/>
            <a:r>
              <a:rPr sz="1300" b="1" dirty="0">
                <a:solidFill>
                  <a:srgbClr val="13608B"/>
                </a:solidFill>
              </a:rPr>
              <a:t>5</a:t>
            </a:r>
          </a:p>
        </p:txBody>
      </p:sp>
      <p:sp>
        <p:nvSpPr>
          <p:cNvPr id="43" name="TextBox 42"/>
          <p:cNvSpPr txBox="1"/>
          <p:nvPr/>
        </p:nvSpPr>
        <p:spPr>
          <a:xfrm>
            <a:off x="3703320" y="3401568"/>
            <a:ext cx="2313432" cy="201168"/>
          </a:xfrm>
          <a:prstGeom prst="rect">
            <a:avLst/>
          </a:prstGeom>
          <a:noFill/>
        </p:spPr>
        <p:txBody>
          <a:bodyPr wrap="square">
            <a:spAutoFit/>
          </a:bodyPr>
          <a:lstStyle/>
          <a:p>
            <a:pPr algn="l"/>
            <a:r>
              <a:rPr sz="850" b="1">
                <a:solidFill>
                  <a:srgbClr val="000000"/>
                </a:solidFill>
              </a:rPr>
              <a:t>Confidence Scoring</a:t>
            </a:r>
          </a:p>
        </p:txBody>
      </p:sp>
      <p:sp>
        <p:nvSpPr>
          <p:cNvPr id="44" name="TextBox 43"/>
          <p:cNvSpPr txBox="1"/>
          <p:nvPr/>
        </p:nvSpPr>
        <p:spPr>
          <a:xfrm>
            <a:off x="3703320" y="3621024"/>
            <a:ext cx="2313432" cy="310896"/>
          </a:xfrm>
          <a:prstGeom prst="rect">
            <a:avLst/>
          </a:prstGeom>
          <a:noFill/>
        </p:spPr>
        <p:txBody>
          <a:bodyPr wrap="square">
            <a:spAutoFit/>
          </a:bodyPr>
          <a:lstStyle/>
          <a:p>
            <a:pPr algn="l"/>
            <a:r>
              <a:rPr sz="750" b="0">
                <a:solidFill>
                  <a:srgbClr val="444444"/>
                </a:solidFill>
              </a:rPr>
              <a:t>Composite 0–100 confidence score — engineers know exactly how much to trust the output</a:t>
            </a:r>
          </a:p>
        </p:txBody>
      </p:sp>
      <p:sp>
        <p:nvSpPr>
          <p:cNvPr id="45" name="Rectangle 44"/>
          <p:cNvSpPr/>
          <p:nvPr/>
        </p:nvSpPr>
        <p:spPr>
          <a:xfrm>
            <a:off x="3337560" y="3968496"/>
            <a:ext cx="269748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3337560" y="4206240"/>
            <a:ext cx="2697480" cy="329184"/>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429000" y="4224528"/>
            <a:ext cx="2569464" cy="307777"/>
          </a:xfrm>
          <a:prstGeom prst="rect">
            <a:avLst/>
          </a:prstGeom>
          <a:noFill/>
        </p:spPr>
        <p:txBody>
          <a:bodyPr wrap="square">
            <a:spAutoFit/>
          </a:bodyPr>
          <a:lstStyle/>
          <a:p>
            <a:pPr algn="l"/>
            <a:r>
              <a:rPr sz="700" b="0" dirty="0">
                <a:solidFill>
                  <a:srgbClr val="FFFFFF"/>
                </a:solidFill>
              </a:rPr>
              <a:t>Incident → </a:t>
            </a:r>
            <a:r>
              <a:rPr sz="700" b="0" dirty="0" err="1">
                <a:solidFill>
                  <a:srgbClr val="FFFFFF"/>
                </a:solidFill>
              </a:rPr>
              <a:t>ChromaDB</a:t>
            </a:r>
            <a:r>
              <a:rPr sz="700" b="0" dirty="0">
                <a:solidFill>
                  <a:srgbClr val="FFFFFF"/>
                </a:solidFill>
              </a:rPr>
              <a:t> → Claude → </a:t>
            </a:r>
            <a:r>
              <a:rPr sz="700" b="0" dirty="0" err="1">
                <a:solidFill>
                  <a:srgbClr val="FFFFFF"/>
                </a:solidFill>
              </a:rPr>
              <a:t>Giskard</a:t>
            </a:r>
            <a:r>
              <a:rPr sz="700" b="0" dirty="0">
                <a:solidFill>
                  <a:srgbClr val="FFFFFF"/>
                </a:solidFill>
              </a:rPr>
              <a:t> ✓ → RCA + Confidence</a:t>
            </a:r>
            <a:r>
              <a:rPr lang="en-US" sz="700" b="0" dirty="0">
                <a:solidFill>
                  <a:srgbClr val="FFFFFF"/>
                </a:solidFill>
              </a:rPr>
              <a:t> Scoring</a:t>
            </a:r>
            <a:endParaRPr sz="700" b="0" dirty="0">
              <a:solidFill>
                <a:srgbClr val="FFFFFF"/>
              </a:solidFill>
            </a:endParaRPr>
          </a:p>
        </p:txBody>
      </p:sp>
      <p:sp>
        <p:nvSpPr>
          <p:cNvPr id="48" name="Rectangle 47"/>
          <p:cNvSpPr/>
          <p:nvPr/>
        </p:nvSpPr>
        <p:spPr>
          <a:xfrm>
            <a:off x="6263640" y="777240"/>
            <a:ext cx="36576" cy="210312"/>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355079" y="777240"/>
            <a:ext cx="2496312" cy="210312"/>
          </a:xfrm>
          <a:prstGeom prst="rect">
            <a:avLst/>
          </a:prstGeom>
          <a:noFill/>
        </p:spPr>
        <p:txBody>
          <a:bodyPr wrap="square">
            <a:spAutoFit/>
          </a:bodyPr>
          <a:lstStyle/>
          <a:p>
            <a:pPr algn="l"/>
            <a:r>
              <a:rPr sz="1200" b="1">
                <a:solidFill>
                  <a:srgbClr val="000000"/>
                </a:solidFill>
              </a:rPr>
              <a:t>Technology Stack</a:t>
            </a:r>
          </a:p>
        </p:txBody>
      </p:sp>
      <p:sp>
        <p:nvSpPr>
          <p:cNvPr id="50" name="Rectangle 49"/>
          <p:cNvSpPr/>
          <p:nvPr/>
        </p:nvSpPr>
        <p:spPr>
          <a:xfrm>
            <a:off x="6263640" y="996695"/>
            <a:ext cx="2496312"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6263640" y="1005840"/>
            <a:ext cx="2496312"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6263640" y="1060704"/>
            <a:ext cx="249631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263640" y="1060704"/>
            <a:ext cx="36576" cy="475488"/>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373368" y="1115568"/>
            <a:ext cx="2350008" cy="201168"/>
          </a:xfrm>
          <a:prstGeom prst="rect">
            <a:avLst/>
          </a:prstGeom>
          <a:noFill/>
        </p:spPr>
        <p:txBody>
          <a:bodyPr wrap="square">
            <a:spAutoFit/>
          </a:bodyPr>
          <a:lstStyle/>
          <a:p>
            <a:pPr algn="l"/>
            <a:r>
              <a:rPr sz="900" b="1">
                <a:solidFill>
                  <a:srgbClr val="000000"/>
                </a:solidFill>
              </a:rPr>
              <a:t>Anthropic Claude</a:t>
            </a:r>
          </a:p>
        </p:txBody>
      </p:sp>
      <p:sp>
        <p:nvSpPr>
          <p:cNvPr id="55" name="TextBox 54"/>
          <p:cNvSpPr txBox="1"/>
          <p:nvPr/>
        </p:nvSpPr>
        <p:spPr>
          <a:xfrm>
            <a:off x="6373368" y="1335024"/>
            <a:ext cx="2350008" cy="164592"/>
          </a:xfrm>
          <a:prstGeom prst="rect">
            <a:avLst/>
          </a:prstGeom>
          <a:noFill/>
        </p:spPr>
        <p:txBody>
          <a:bodyPr wrap="square">
            <a:spAutoFit/>
          </a:bodyPr>
          <a:lstStyle/>
          <a:p>
            <a:pPr algn="l"/>
            <a:r>
              <a:rPr sz="750" b="0">
                <a:solidFill>
                  <a:srgbClr val="444444"/>
                </a:solidFill>
              </a:rPr>
              <a:t>RCA Reasoning (200K context)</a:t>
            </a:r>
          </a:p>
        </p:txBody>
      </p:sp>
      <p:sp>
        <p:nvSpPr>
          <p:cNvPr id="56" name="Rectangle 55"/>
          <p:cNvSpPr/>
          <p:nvPr/>
        </p:nvSpPr>
        <p:spPr>
          <a:xfrm>
            <a:off x="6263640" y="1591055"/>
            <a:ext cx="2496312" cy="4754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6263640" y="1591055"/>
            <a:ext cx="36576" cy="475488"/>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373368" y="1645919"/>
            <a:ext cx="2350008" cy="201168"/>
          </a:xfrm>
          <a:prstGeom prst="rect">
            <a:avLst/>
          </a:prstGeom>
          <a:noFill/>
        </p:spPr>
        <p:txBody>
          <a:bodyPr wrap="square">
            <a:spAutoFit/>
          </a:bodyPr>
          <a:lstStyle/>
          <a:p>
            <a:pPr algn="l"/>
            <a:r>
              <a:rPr sz="900" b="1">
                <a:solidFill>
                  <a:srgbClr val="000000"/>
                </a:solidFill>
              </a:rPr>
              <a:t>Giskard AI</a:t>
            </a:r>
          </a:p>
        </p:txBody>
      </p:sp>
      <p:sp>
        <p:nvSpPr>
          <p:cNvPr id="59" name="TextBox 58"/>
          <p:cNvSpPr txBox="1"/>
          <p:nvPr/>
        </p:nvSpPr>
        <p:spPr>
          <a:xfrm>
            <a:off x="6373368" y="1865375"/>
            <a:ext cx="2350008" cy="164592"/>
          </a:xfrm>
          <a:prstGeom prst="rect">
            <a:avLst/>
          </a:prstGeom>
          <a:noFill/>
        </p:spPr>
        <p:txBody>
          <a:bodyPr wrap="square">
            <a:spAutoFit/>
          </a:bodyPr>
          <a:lstStyle/>
          <a:p>
            <a:pPr algn="l"/>
            <a:r>
              <a:rPr sz="750" b="0">
                <a:solidFill>
                  <a:srgbClr val="444444"/>
                </a:solidFill>
              </a:rPr>
              <a:t>AI Output Validation &amp; Trust</a:t>
            </a:r>
          </a:p>
        </p:txBody>
      </p:sp>
      <p:sp>
        <p:nvSpPr>
          <p:cNvPr id="60" name="Rectangle 59"/>
          <p:cNvSpPr/>
          <p:nvPr/>
        </p:nvSpPr>
        <p:spPr>
          <a:xfrm>
            <a:off x="6263640" y="2121408"/>
            <a:ext cx="249631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263640" y="2121408"/>
            <a:ext cx="36576" cy="475488"/>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373368" y="2176272"/>
            <a:ext cx="2350008" cy="201168"/>
          </a:xfrm>
          <a:prstGeom prst="rect">
            <a:avLst/>
          </a:prstGeom>
          <a:noFill/>
        </p:spPr>
        <p:txBody>
          <a:bodyPr wrap="square">
            <a:spAutoFit/>
          </a:bodyPr>
          <a:lstStyle/>
          <a:p>
            <a:pPr algn="l"/>
            <a:r>
              <a:rPr sz="900" b="1">
                <a:solidFill>
                  <a:srgbClr val="000000"/>
                </a:solidFill>
              </a:rPr>
              <a:t>ChromaDB</a:t>
            </a:r>
          </a:p>
        </p:txBody>
      </p:sp>
      <p:sp>
        <p:nvSpPr>
          <p:cNvPr id="63" name="TextBox 62"/>
          <p:cNvSpPr txBox="1"/>
          <p:nvPr/>
        </p:nvSpPr>
        <p:spPr>
          <a:xfrm>
            <a:off x="6373368" y="2395727"/>
            <a:ext cx="2350008" cy="164592"/>
          </a:xfrm>
          <a:prstGeom prst="rect">
            <a:avLst/>
          </a:prstGeom>
          <a:noFill/>
        </p:spPr>
        <p:txBody>
          <a:bodyPr wrap="square">
            <a:spAutoFit/>
          </a:bodyPr>
          <a:lstStyle/>
          <a:p>
            <a:pPr algn="l"/>
            <a:r>
              <a:rPr sz="750" b="0">
                <a:solidFill>
                  <a:srgbClr val="444444"/>
                </a:solidFill>
              </a:rPr>
              <a:t>Local Vector Memory — Zero Config</a:t>
            </a:r>
          </a:p>
        </p:txBody>
      </p:sp>
      <p:sp>
        <p:nvSpPr>
          <p:cNvPr id="64" name="Rectangle 63"/>
          <p:cNvSpPr/>
          <p:nvPr/>
        </p:nvSpPr>
        <p:spPr>
          <a:xfrm>
            <a:off x="6263640" y="2651760"/>
            <a:ext cx="2496312" cy="4754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6263640" y="2651760"/>
            <a:ext cx="36576" cy="475488"/>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373368" y="2706624"/>
            <a:ext cx="2350008" cy="201168"/>
          </a:xfrm>
          <a:prstGeom prst="rect">
            <a:avLst/>
          </a:prstGeom>
          <a:noFill/>
        </p:spPr>
        <p:txBody>
          <a:bodyPr wrap="square">
            <a:spAutoFit/>
          </a:bodyPr>
          <a:lstStyle/>
          <a:p>
            <a:pPr algn="l"/>
            <a:r>
              <a:rPr sz="900" b="1">
                <a:solidFill>
                  <a:srgbClr val="000000"/>
                </a:solidFill>
              </a:rPr>
              <a:t>LangChain LCEL</a:t>
            </a:r>
          </a:p>
        </p:txBody>
      </p:sp>
      <p:sp>
        <p:nvSpPr>
          <p:cNvPr id="67" name="TextBox 66"/>
          <p:cNvSpPr txBox="1"/>
          <p:nvPr/>
        </p:nvSpPr>
        <p:spPr>
          <a:xfrm>
            <a:off x="6373368" y="2926079"/>
            <a:ext cx="2350008" cy="164592"/>
          </a:xfrm>
          <a:prstGeom prst="rect">
            <a:avLst/>
          </a:prstGeom>
          <a:noFill/>
        </p:spPr>
        <p:txBody>
          <a:bodyPr wrap="square">
            <a:spAutoFit/>
          </a:bodyPr>
          <a:lstStyle/>
          <a:p>
            <a:pPr algn="l"/>
            <a:r>
              <a:rPr sz="750" b="0">
                <a:solidFill>
                  <a:srgbClr val="444444"/>
                </a:solidFill>
              </a:rPr>
              <a:t>Prompt Chaining &amp; Orchestration</a:t>
            </a:r>
          </a:p>
        </p:txBody>
      </p:sp>
      <p:sp>
        <p:nvSpPr>
          <p:cNvPr id="68" name="Rectangle 67"/>
          <p:cNvSpPr/>
          <p:nvPr/>
        </p:nvSpPr>
        <p:spPr>
          <a:xfrm>
            <a:off x="6263640" y="3182112"/>
            <a:ext cx="249631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6263640" y="3182112"/>
            <a:ext cx="36576" cy="475488"/>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373368" y="3236976"/>
            <a:ext cx="2350008" cy="201168"/>
          </a:xfrm>
          <a:prstGeom prst="rect">
            <a:avLst/>
          </a:prstGeom>
          <a:noFill/>
        </p:spPr>
        <p:txBody>
          <a:bodyPr wrap="square">
            <a:spAutoFit/>
          </a:bodyPr>
          <a:lstStyle/>
          <a:p>
            <a:pPr algn="l"/>
            <a:r>
              <a:rPr sz="900" b="1">
                <a:solidFill>
                  <a:srgbClr val="000000"/>
                </a:solidFill>
              </a:rPr>
              <a:t>FastAPI + Streamlit</a:t>
            </a:r>
          </a:p>
        </p:txBody>
      </p:sp>
      <p:sp>
        <p:nvSpPr>
          <p:cNvPr id="71" name="TextBox 70"/>
          <p:cNvSpPr txBox="1"/>
          <p:nvPr/>
        </p:nvSpPr>
        <p:spPr>
          <a:xfrm>
            <a:off x="6373368" y="3456432"/>
            <a:ext cx="2350008" cy="164592"/>
          </a:xfrm>
          <a:prstGeom prst="rect">
            <a:avLst/>
          </a:prstGeom>
          <a:noFill/>
        </p:spPr>
        <p:txBody>
          <a:bodyPr wrap="square">
            <a:spAutoFit/>
          </a:bodyPr>
          <a:lstStyle/>
          <a:p>
            <a:pPr algn="l"/>
            <a:r>
              <a:rPr sz="750" b="0">
                <a:solidFill>
                  <a:srgbClr val="444444"/>
                </a:solidFill>
              </a:rPr>
              <a:t>Backend API + Demo Dashboard</a:t>
            </a:r>
          </a:p>
        </p:txBody>
      </p:sp>
      <p:sp>
        <p:nvSpPr>
          <p:cNvPr id="72" name="Rectangle 71"/>
          <p:cNvSpPr/>
          <p:nvPr/>
        </p:nvSpPr>
        <p:spPr>
          <a:xfrm>
            <a:off x="384048" y="4645152"/>
            <a:ext cx="8375904"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420624" y="4690872"/>
            <a:ext cx="1344168" cy="253916"/>
          </a:xfrm>
          <a:prstGeom prst="rect">
            <a:avLst/>
          </a:prstGeom>
          <a:noFill/>
        </p:spPr>
        <p:txBody>
          <a:bodyPr wrap="square">
            <a:spAutoFit/>
          </a:bodyPr>
          <a:lstStyle/>
          <a:p>
            <a:pPr algn="l"/>
            <a:r>
              <a:rPr sz="1050" b="1" dirty="0">
                <a:solidFill>
                  <a:srgbClr val="000000"/>
                </a:solidFill>
              </a:rPr>
              <a:t>&lt; </a:t>
            </a:r>
            <a:r>
              <a:rPr lang="en-US" sz="1050" b="1" dirty="0">
                <a:solidFill>
                  <a:srgbClr val="000000"/>
                </a:solidFill>
              </a:rPr>
              <a:t>5 Minutes</a:t>
            </a:r>
            <a:endParaRPr sz="1050" b="1" dirty="0">
              <a:solidFill>
                <a:srgbClr val="000000"/>
              </a:solidFill>
            </a:endParaRPr>
          </a:p>
        </p:txBody>
      </p:sp>
      <p:sp>
        <p:nvSpPr>
          <p:cNvPr id="74" name="TextBox 73"/>
          <p:cNvSpPr txBox="1"/>
          <p:nvPr/>
        </p:nvSpPr>
        <p:spPr>
          <a:xfrm>
            <a:off x="420624" y="4882896"/>
            <a:ext cx="1344168" cy="146304"/>
          </a:xfrm>
          <a:prstGeom prst="rect">
            <a:avLst/>
          </a:prstGeom>
          <a:noFill/>
        </p:spPr>
        <p:txBody>
          <a:bodyPr wrap="square">
            <a:spAutoFit/>
          </a:bodyPr>
          <a:lstStyle/>
          <a:p>
            <a:pPr algn="l"/>
            <a:r>
              <a:rPr sz="650" b="0">
                <a:solidFill>
                  <a:srgbClr val="444444"/>
                </a:solidFill>
              </a:rPr>
              <a:t>RCA Generation Time</a:t>
            </a:r>
          </a:p>
        </p:txBody>
      </p:sp>
      <p:sp>
        <p:nvSpPr>
          <p:cNvPr id="75" name="TextBox 74"/>
          <p:cNvSpPr txBox="1"/>
          <p:nvPr/>
        </p:nvSpPr>
        <p:spPr>
          <a:xfrm>
            <a:off x="1783080" y="4690872"/>
            <a:ext cx="1344168" cy="253916"/>
          </a:xfrm>
          <a:prstGeom prst="rect">
            <a:avLst/>
          </a:prstGeom>
          <a:noFill/>
        </p:spPr>
        <p:txBody>
          <a:bodyPr wrap="square">
            <a:spAutoFit/>
          </a:bodyPr>
          <a:lstStyle/>
          <a:p>
            <a:pPr algn="l"/>
            <a:r>
              <a:rPr sz="1050" b="1" dirty="0">
                <a:solidFill>
                  <a:srgbClr val="000000"/>
                </a:solidFill>
              </a:rPr>
              <a:t>&gt;</a:t>
            </a:r>
            <a:r>
              <a:rPr lang="en-US" sz="1050" b="1" dirty="0">
                <a:solidFill>
                  <a:srgbClr val="000000"/>
                </a:solidFill>
              </a:rPr>
              <a:t> 80 %</a:t>
            </a:r>
            <a:endParaRPr sz="1050" b="1" dirty="0">
              <a:solidFill>
                <a:srgbClr val="000000"/>
              </a:solidFill>
            </a:endParaRPr>
          </a:p>
        </p:txBody>
      </p:sp>
      <p:sp>
        <p:nvSpPr>
          <p:cNvPr id="76" name="TextBox 75"/>
          <p:cNvSpPr txBox="1"/>
          <p:nvPr/>
        </p:nvSpPr>
        <p:spPr>
          <a:xfrm>
            <a:off x="1783080" y="4882896"/>
            <a:ext cx="1344168" cy="146304"/>
          </a:xfrm>
          <a:prstGeom prst="rect">
            <a:avLst/>
          </a:prstGeom>
          <a:noFill/>
        </p:spPr>
        <p:txBody>
          <a:bodyPr wrap="square">
            <a:spAutoFit/>
          </a:bodyPr>
          <a:lstStyle/>
          <a:p>
            <a:pPr algn="l"/>
            <a:r>
              <a:rPr sz="650" b="0">
                <a:solidFill>
                  <a:srgbClr val="444444"/>
                </a:solidFill>
              </a:rPr>
              <a:t>Confidence on P1 Incidents</a:t>
            </a:r>
          </a:p>
        </p:txBody>
      </p:sp>
      <p:sp>
        <p:nvSpPr>
          <p:cNvPr id="77" name="TextBox 76"/>
          <p:cNvSpPr txBox="1"/>
          <p:nvPr/>
        </p:nvSpPr>
        <p:spPr>
          <a:xfrm>
            <a:off x="3145536" y="4690872"/>
            <a:ext cx="1344168" cy="182880"/>
          </a:xfrm>
          <a:prstGeom prst="rect">
            <a:avLst/>
          </a:prstGeom>
          <a:noFill/>
        </p:spPr>
        <p:txBody>
          <a:bodyPr wrap="square">
            <a:spAutoFit/>
          </a:bodyPr>
          <a:lstStyle/>
          <a:p>
            <a:pPr algn="l"/>
            <a:r>
              <a:rPr sz="1050" b="1">
                <a:solidFill>
                  <a:srgbClr val="000000"/>
                </a:solidFill>
              </a:rPr>
              <a:t>20×</a:t>
            </a:r>
          </a:p>
        </p:txBody>
      </p:sp>
      <p:sp>
        <p:nvSpPr>
          <p:cNvPr id="78" name="TextBox 77"/>
          <p:cNvSpPr txBox="1"/>
          <p:nvPr/>
        </p:nvSpPr>
        <p:spPr>
          <a:xfrm>
            <a:off x="3145536" y="4882896"/>
            <a:ext cx="1344168" cy="146304"/>
          </a:xfrm>
          <a:prstGeom prst="rect">
            <a:avLst/>
          </a:prstGeom>
          <a:noFill/>
        </p:spPr>
        <p:txBody>
          <a:bodyPr wrap="square">
            <a:spAutoFit/>
          </a:bodyPr>
          <a:lstStyle/>
          <a:p>
            <a:pPr algn="l"/>
            <a:r>
              <a:rPr sz="650" b="0">
                <a:solidFill>
                  <a:srgbClr val="444444"/>
                </a:solidFill>
              </a:rPr>
              <a:t>Faster MTTR</a:t>
            </a:r>
          </a:p>
        </p:txBody>
      </p:sp>
      <p:sp>
        <p:nvSpPr>
          <p:cNvPr id="79" name="TextBox 78"/>
          <p:cNvSpPr txBox="1"/>
          <p:nvPr/>
        </p:nvSpPr>
        <p:spPr>
          <a:xfrm>
            <a:off x="4507992" y="4690872"/>
            <a:ext cx="1344168" cy="182880"/>
          </a:xfrm>
          <a:prstGeom prst="rect">
            <a:avLst/>
          </a:prstGeom>
          <a:noFill/>
        </p:spPr>
        <p:txBody>
          <a:bodyPr wrap="square">
            <a:spAutoFit/>
          </a:bodyPr>
          <a:lstStyle/>
          <a:p>
            <a:pPr algn="l"/>
            <a:r>
              <a:rPr sz="1050" b="1">
                <a:solidFill>
                  <a:srgbClr val="000000"/>
                </a:solidFill>
              </a:rPr>
              <a:t>5 days</a:t>
            </a:r>
          </a:p>
        </p:txBody>
      </p:sp>
      <p:sp>
        <p:nvSpPr>
          <p:cNvPr id="80" name="TextBox 79"/>
          <p:cNvSpPr txBox="1"/>
          <p:nvPr/>
        </p:nvSpPr>
        <p:spPr>
          <a:xfrm>
            <a:off x="4507992" y="4882896"/>
            <a:ext cx="1344168" cy="146304"/>
          </a:xfrm>
          <a:prstGeom prst="rect">
            <a:avLst/>
          </a:prstGeom>
          <a:noFill/>
        </p:spPr>
        <p:txBody>
          <a:bodyPr wrap="square">
            <a:spAutoFit/>
          </a:bodyPr>
          <a:lstStyle/>
          <a:p>
            <a:pPr algn="l"/>
            <a:r>
              <a:rPr sz="650" b="0">
                <a:solidFill>
                  <a:srgbClr val="444444"/>
                </a:solidFill>
              </a:rPr>
              <a:t>Full POC Delivery</a:t>
            </a:r>
          </a:p>
        </p:txBody>
      </p:sp>
      <p:sp>
        <p:nvSpPr>
          <p:cNvPr id="81" name="TextBox 80"/>
          <p:cNvSpPr txBox="1"/>
          <p:nvPr/>
        </p:nvSpPr>
        <p:spPr>
          <a:xfrm>
            <a:off x="5870448" y="4690872"/>
            <a:ext cx="1344168" cy="182880"/>
          </a:xfrm>
          <a:prstGeom prst="rect">
            <a:avLst/>
          </a:prstGeom>
          <a:noFill/>
        </p:spPr>
        <p:txBody>
          <a:bodyPr wrap="square">
            <a:spAutoFit/>
          </a:bodyPr>
          <a:lstStyle/>
          <a:p>
            <a:pPr algn="l"/>
            <a:r>
              <a:rPr sz="1050" b="1">
                <a:solidFill>
                  <a:srgbClr val="000000"/>
                </a:solidFill>
              </a:rPr>
              <a:t>Zero</a:t>
            </a:r>
          </a:p>
        </p:txBody>
      </p:sp>
      <p:sp>
        <p:nvSpPr>
          <p:cNvPr id="82" name="TextBox 81"/>
          <p:cNvSpPr txBox="1"/>
          <p:nvPr/>
        </p:nvSpPr>
        <p:spPr>
          <a:xfrm>
            <a:off x="5870448" y="4882896"/>
            <a:ext cx="1344168" cy="146304"/>
          </a:xfrm>
          <a:prstGeom prst="rect">
            <a:avLst/>
          </a:prstGeom>
          <a:noFill/>
        </p:spPr>
        <p:txBody>
          <a:bodyPr wrap="square">
            <a:spAutoFit/>
          </a:bodyPr>
          <a:lstStyle/>
          <a:p>
            <a:pPr algn="l"/>
            <a:r>
              <a:rPr sz="650" b="0" dirty="0">
                <a:solidFill>
                  <a:srgbClr val="444444"/>
                </a:solidFill>
              </a:rPr>
              <a:t>Cloud Infra Required</a:t>
            </a:r>
          </a:p>
        </p:txBody>
      </p:sp>
      <p:sp>
        <p:nvSpPr>
          <p:cNvPr id="83" name="TextBox 82"/>
          <p:cNvSpPr txBox="1"/>
          <p:nvPr/>
        </p:nvSpPr>
        <p:spPr>
          <a:xfrm>
            <a:off x="7232904" y="4690872"/>
            <a:ext cx="1344168" cy="182880"/>
          </a:xfrm>
          <a:prstGeom prst="rect">
            <a:avLst/>
          </a:prstGeom>
          <a:noFill/>
        </p:spPr>
        <p:txBody>
          <a:bodyPr wrap="square">
            <a:spAutoFit/>
          </a:bodyPr>
          <a:lstStyle/>
          <a:p>
            <a:pPr algn="l"/>
            <a:r>
              <a:rPr sz="1050" b="1">
                <a:solidFill>
                  <a:srgbClr val="000000"/>
                </a:solidFill>
              </a:rPr>
              <a:t>100%</a:t>
            </a:r>
          </a:p>
        </p:txBody>
      </p:sp>
      <p:sp>
        <p:nvSpPr>
          <p:cNvPr id="84" name="TextBox 83"/>
          <p:cNvSpPr txBox="1"/>
          <p:nvPr/>
        </p:nvSpPr>
        <p:spPr>
          <a:xfrm>
            <a:off x="7232904" y="4882896"/>
            <a:ext cx="1344168" cy="146304"/>
          </a:xfrm>
          <a:prstGeom prst="rect">
            <a:avLst/>
          </a:prstGeom>
          <a:noFill/>
        </p:spPr>
        <p:txBody>
          <a:bodyPr wrap="square">
            <a:spAutoFit/>
          </a:bodyPr>
          <a:lstStyle/>
          <a:p>
            <a:pPr algn="l"/>
            <a:r>
              <a:rPr sz="650" b="0">
                <a:solidFill>
                  <a:srgbClr val="444444"/>
                </a:solidFill>
              </a:rPr>
              <a:t>Giskard Validated Output</a:t>
            </a:r>
          </a:p>
        </p:txBody>
      </p:sp>
      <p:sp>
        <p:nvSpPr>
          <p:cNvPr id="85" name="Rectangle 84"/>
          <p:cNvSpPr/>
          <p:nvPr/>
        </p:nvSpPr>
        <p:spPr>
          <a:xfrm>
            <a:off x="1764792" y="4690872"/>
            <a:ext cx="4572" cy="2926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3127248" y="4690872"/>
            <a:ext cx="4572" cy="2926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4489704" y="4690872"/>
            <a:ext cx="4572" cy="2926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5852160" y="4690872"/>
            <a:ext cx="4572" cy="2926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7214616" y="4690872"/>
            <a:ext cx="4572" cy="2926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a:extLst>
              <a:ext uri="{FF2B5EF4-FFF2-40B4-BE49-F238E27FC236}">
                <a16:creationId xmlns:a16="http://schemas.microsoft.com/office/drawing/2014/main" id="{C8064678-3FE4-5440-AF30-B9EC9380F249}"/>
              </a:ext>
            </a:extLst>
          </p:cNvPr>
          <p:cNvSpPr txBox="1"/>
          <p:nvPr/>
        </p:nvSpPr>
        <p:spPr>
          <a:xfrm>
            <a:off x="3327821" y="1213380"/>
            <a:ext cx="347472" cy="292388"/>
          </a:xfrm>
          <a:prstGeom prst="rect">
            <a:avLst/>
          </a:prstGeom>
          <a:noFill/>
        </p:spPr>
        <p:txBody>
          <a:bodyPr wrap="square">
            <a:spAutoFit/>
          </a:bodyPr>
          <a:lstStyle/>
          <a:p>
            <a:pPr algn="l"/>
            <a:r>
              <a:rPr lang="en-US" sz="1300" b="1" dirty="0">
                <a:solidFill>
                  <a:srgbClr val="13608B"/>
                </a:solidFill>
              </a:rPr>
              <a:t>1</a:t>
            </a:r>
            <a:endParaRPr sz="1300" b="1" dirty="0">
              <a:solidFill>
                <a:srgbClr val="13608B"/>
              </a:solidFill>
            </a:endParaRPr>
          </a:p>
        </p:txBody>
      </p:sp>
      <p:sp>
        <p:nvSpPr>
          <p:cNvPr id="92" name="Shape 2">
            <a:extLst>
              <a:ext uri="{FF2B5EF4-FFF2-40B4-BE49-F238E27FC236}">
                <a16:creationId xmlns:a16="http://schemas.microsoft.com/office/drawing/2014/main" id="{CAF068B9-70DA-AD07-85C5-B6B7C91EC669}"/>
              </a:ext>
            </a:extLst>
          </p:cNvPr>
          <p:cNvSpPr/>
          <p:nvPr/>
        </p:nvSpPr>
        <p:spPr>
          <a:xfrm>
            <a:off x="8229600" y="73153"/>
            <a:ext cx="723900" cy="649222"/>
          </a:xfrm>
          <a:prstGeom prst="ellipse">
            <a:avLst/>
          </a:prstGeom>
          <a:solidFill>
            <a:srgbClr val="FFFFFF"/>
          </a:solidFill>
          <a:ln w="25400">
            <a:solidFill>
              <a:srgbClr val="C9A84C"/>
            </a:solidFill>
            <a:prstDash val="solid"/>
          </a:ln>
        </p:spPr>
        <p:txBody>
          <a:bodyPr/>
          <a:lstStyle/>
          <a:p>
            <a:r>
              <a:rPr lang="en-US" dirty="0"/>
              <a:t>OFI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84048" y="118872"/>
            <a:ext cx="7680960" cy="329184"/>
          </a:xfrm>
          <a:prstGeom prst="rect">
            <a:avLst/>
          </a:prstGeom>
          <a:noFill/>
        </p:spPr>
        <p:txBody>
          <a:bodyPr wrap="square">
            <a:spAutoFit/>
          </a:bodyPr>
          <a:lstStyle/>
          <a:p>
            <a:pPr algn="l"/>
            <a:r>
              <a:rPr sz="1900" b="1">
                <a:solidFill>
                  <a:srgbClr val="000000"/>
                </a:solidFill>
              </a:rPr>
              <a:t>Solution Design</a:t>
            </a:r>
          </a:p>
        </p:txBody>
      </p:sp>
      <p:sp>
        <p:nvSpPr>
          <p:cNvPr id="3" name="TextBox 2"/>
          <p:cNvSpPr txBox="1"/>
          <p:nvPr/>
        </p:nvSpPr>
        <p:spPr>
          <a:xfrm>
            <a:off x="384048" y="457200"/>
            <a:ext cx="7772400" cy="164592"/>
          </a:xfrm>
          <a:prstGeom prst="rect">
            <a:avLst/>
          </a:prstGeom>
          <a:noFill/>
        </p:spPr>
        <p:txBody>
          <a:bodyPr wrap="square">
            <a:spAutoFit/>
          </a:bodyPr>
          <a:lstStyle/>
          <a:p>
            <a:pPr algn="l"/>
            <a:r>
              <a:rPr sz="850" b="0">
                <a:solidFill>
                  <a:srgbClr val="CCA23F"/>
                </a:solidFill>
              </a:rPr>
              <a:t>End-to-End Architecture  ·  AI Incident Copilot  ·  Ofi</a:t>
            </a:r>
          </a:p>
        </p:txBody>
      </p:sp>
      <p:sp>
        <p:nvSpPr>
          <p:cNvPr id="4" name="Rectangle 3"/>
          <p:cNvSpPr/>
          <p:nvPr/>
        </p:nvSpPr>
        <p:spPr>
          <a:xfrm>
            <a:off x="384048" y="658368"/>
            <a:ext cx="8375904"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 y="822960"/>
            <a:ext cx="1005840" cy="228600"/>
          </a:xfrm>
          <a:prstGeom prst="rect">
            <a:avLst/>
          </a:prstGeom>
          <a:noFill/>
        </p:spPr>
        <p:txBody>
          <a:bodyPr wrap="square">
            <a:spAutoFit/>
          </a:bodyPr>
          <a:lstStyle/>
          <a:p>
            <a:pPr algn="r"/>
            <a:r>
              <a:rPr sz="650" b="1">
                <a:solidFill>
                  <a:srgbClr val="CCA23F"/>
                </a:solidFill>
              </a:rPr>
              <a:t>INPUT LAYER</a:t>
            </a:r>
          </a:p>
        </p:txBody>
      </p:sp>
      <p:sp>
        <p:nvSpPr>
          <p:cNvPr id="6" name="Rectangle 5"/>
          <p:cNvSpPr/>
          <p:nvPr/>
        </p:nvSpPr>
        <p:spPr>
          <a:xfrm>
            <a:off x="0" y="777240"/>
            <a:ext cx="109728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 y="1463040"/>
            <a:ext cx="1005840" cy="228600"/>
          </a:xfrm>
          <a:prstGeom prst="rect">
            <a:avLst/>
          </a:prstGeom>
          <a:noFill/>
        </p:spPr>
        <p:txBody>
          <a:bodyPr wrap="square">
            <a:spAutoFit/>
          </a:bodyPr>
          <a:lstStyle/>
          <a:p>
            <a:pPr algn="r"/>
            <a:r>
              <a:rPr sz="650" b="1">
                <a:solidFill>
                  <a:srgbClr val="13608B"/>
                </a:solidFill>
              </a:rPr>
              <a:t>INGESTION</a:t>
            </a:r>
          </a:p>
        </p:txBody>
      </p:sp>
      <p:sp>
        <p:nvSpPr>
          <p:cNvPr id="8" name="Rectangle 7"/>
          <p:cNvSpPr/>
          <p:nvPr/>
        </p:nvSpPr>
        <p:spPr>
          <a:xfrm>
            <a:off x="0" y="1417320"/>
            <a:ext cx="109728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 y="2103120"/>
            <a:ext cx="1005840" cy="228600"/>
          </a:xfrm>
          <a:prstGeom prst="rect">
            <a:avLst/>
          </a:prstGeom>
          <a:noFill/>
        </p:spPr>
        <p:txBody>
          <a:bodyPr wrap="square">
            <a:spAutoFit/>
          </a:bodyPr>
          <a:lstStyle/>
          <a:p>
            <a:pPr algn="r"/>
            <a:r>
              <a:rPr sz="650" b="1">
                <a:solidFill>
                  <a:srgbClr val="13608B"/>
                </a:solidFill>
              </a:rPr>
              <a:t>MEMORY</a:t>
            </a:r>
          </a:p>
        </p:txBody>
      </p:sp>
      <p:sp>
        <p:nvSpPr>
          <p:cNvPr id="10" name="Rectangle 9"/>
          <p:cNvSpPr/>
          <p:nvPr/>
        </p:nvSpPr>
        <p:spPr>
          <a:xfrm>
            <a:off x="0" y="2057400"/>
            <a:ext cx="109728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 y="2743200"/>
            <a:ext cx="1005840" cy="228600"/>
          </a:xfrm>
          <a:prstGeom prst="rect">
            <a:avLst/>
          </a:prstGeom>
          <a:noFill/>
        </p:spPr>
        <p:txBody>
          <a:bodyPr wrap="square">
            <a:spAutoFit/>
          </a:bodyPr>
          <a:lstStyle/>
          <a:p>
            <a:pPr algn="r"/>
            <a:r>
              <a:rPr sz="650" b="1">
                <a:solidFill>
                  <a:srgbClr val="13608B"/>
                </a:solidFill>
              </a:rPr>
              <a:t>REASONING</a:t>
            </a:r>
          </a:p>
        </p:txBody>
      </p:sp>
      <p:sp>
        <p:nvSpPr>
          <p:cNvPr id="12" name="Rectangle 11"/>
          <p:cNvSpPr/>
          <p:nvPr/>
        </p:nvSpPr>
        <p:spPr>
          <a:xfrm>
            <a:off x="0" y="2697480"/>
            <a:ext cx="109728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 y="3383279"/>
            <a:ext cx="1005840" cy="228600"/>
          </a:xfrm>
          <a:prstGeom prst="rect">
            <a:avLst/>
          </a:prstGeom>
          <a:noFill/>
        </p:spPr>
        <p:txBody>
          <a:bodyPr wrap="square">
            <a:spAutoFit/>
          </a:bodyPr>
          <a:lstStyle/>
          <a:p>
            <a:pPr algn="r"/>
            <a:r>
              <a:rPr sz="650" b="1">
                <a:solidFill>
                  <a:srgbClr val="CCA23F"/>
                </a:solidFill>
              </a:rPr>
              <a:t>VALIDATION</a:t>
            </a:r>
          </a:p>
        </p:txBody>
      </p:sp>
      <p:sp>
        <p:nvSpPr>
          <p:cNvPr id="14" name="Rectangle 13"/>
          <p:cNvSpPr/>
          <p:nvPr/>
        </p:nvSpPr>
        <p:spPr>
          <a:xfrm>
            <a:off x="0" y="3337560"/>
            <a:ext cx="109728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 y="4023359"/>
            <a:ext cx="1005840" cy="228600"/>
          </a:xfrm>
          <a:prstGeom prst="rect">
            <a:avLst/>
          </a:prstGeom>
          <a:noFill/>
        </p:spPr>
        <p:txBody>
          <a:bodyPr wrap="square">
            <a:spAutoFit/>
          </a:bodyPr>
          <a:lstStyle/>
          <a:p>
            <a:pPr algn="r"/>
            <a:r>
              <a:rPr sz="650" b="1">
                <a:solidFill>
                  <a:srgbClr val="13608B"/>
                </a:solidFill>
              </a:rPr>
              <a:t>OUTPUT</a:t>
            </a:r>
          </a:p>
        </p:txBody>
      </p:sp>
      <p:sp>
        <p:nvSpPr>
          <p:cNvPr id="16" name="Rectangle 15"/>
          <p:cNvSpPr/>
          <p:nvPr/>
        </p:nvSpPr>
        <p:spPr>
          <a:xfrm>
            <a:off x="0" y="3977639"/>
            <a:ext cx="109728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188720" y="749808"/>
            <a:ext cx="7571231" cy="457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188720" y="1389888"/>
            <a:ext cx="7571231" cy="457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188720" y="2029968"/>
            <a:ext cx="7571231" cy="457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88720" y="2670048"/>
            <a:ext cx="7571231" cy="457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188720" y="3310128"/>
            <a:ext cx="7571231" cy="457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188720" y="3950208"/>
            <a:ext cx="7571231" cy="457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188720" y="4590288"/>
            <a:ext cx="7571231" cy="457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280160" y="804672"/>
            <a:ext cx="822960" cy="493776"/>
          </a:xfrm>
          <a:prstGeom prst="rect">
            <a:avLst/>
          </a:prstGeom>
          <a:solidFill>
            <a:srgbClr val="F5F5F5"/>
          </a:solidFill>
          <a:ln w="6350">
            <a:solidFill>
              <a:srgbClr val="CCA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316736" y="822960"/>
            <a:ext cx="749808" cy="493776"/>
          </a:xfrm>
          <a:prstGeom prst="rect">
            <a:avLst/>
          </a:prstGeom>
          <a:noFill/>
        </p:spPr>
        <p:txBody>
          <a:bodyPr wrap="square">
            <a:spAutoFit/>
          </a:bodyPr>
          <a:lstStyle/>
          <a:p>
            <a:pPr algn="ctr"/>
            <a:r>
              <a:rPr sz="700" b="1">
                <a:solidFill>
                  <a:srgbClr val="000000"/>
                </a:solidFill>
              </a:rPr>
              <a:t>Incident
Tickets</a:t>
            </a:r>
          </a:p>
        </p:txBody>
      </p:sp>
      <p:sp>
        <p:nvSpPr>
          <p:cNvPr id="26" name="Rectangle 25"/>
          <p:cNvSpPr/>
          <p:nvPr/>
        </p:nvSpPr>
        <p:spPr>
          <a:xfrm>
            <a:off x="2286000" y="804672"/>
            <a:ext cx="822960" cy="493776"/>
          </a:xfrm>
          <a:prstGeom prst="rect">
            <a:avLst/>
          </a:prstGeom>
          <a:solidFill>
            <a:srgbClr val="F5F5F5"/>
          </a:solidFill>
          <a:ln w="6350">
            <a:solidFill>
              <a:srgbClr val="CCA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322576" y="822960"/>
            <a:ext cx="749808" cy="493776"/>
          </a:xfrm>
          <a:prstGeom prst="rect">
            <a:avLst/>
          </a:prstGeom>
          <a:noFill/>
        </p:spPr>
        <p:txBody>
          <a:bodyPr wrap="square">
            <a:spAutoFit/>
          </a:bodyPr>
          <a:lstStyle/>
          <a:p>
            <a:pPr algn="ctr"/>
            <a:r>
              <a:rPr sz="700" b="1">
                <a:solidFill>
                  <a:srgbClr val="000000"/>
                </a:solidFill>
              </a:rPr>
              <a:t>Alerts
&amp; Logs</a:t>
            </a:r>
          </a:p>
        </p:txBody>
      </p:sp>
      <p:sp>
        <p:nvSpPr>
          <p:cNvPr id="28" name="Rectangle 27"/>
          <p:cNvSpPr/>
          <p:nvPr/>
        </p:nvSpPr>
        <p:spPr>
          <a:xfrm>
            <a:off x="3291840" y="804672"/>
            <a:ext cx="822960" cy="493776"/>
          </a:xfrm>
          <a:prstGeom prst="rect">
            <a:avLst/>
          </a:prstGeom>
          <a:solidFill>
            <a:srgbClr val="F5F5F5"/>
          </a:solidFill>
          <a:ln w="6350">
            <a:solidFill>
              <a:srgbClr val="CCA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328416" y="822960"/>
            <a:ext cx="749808" cy="493776"/>
          </a:xfrm>
          <a:prstGeom prst="rect">
            <a:avLst/>
          </a:prstGeom>
          <a:noFill/>
        </p:spPr>
        <p:txBody>
          <a:bodyPr wrap="square">
            <a:spAutoFit/>
          </a:bodyPr>
          <a:lstStyle/>
          <a:p>
            <a:pPr algn="ctr"/>
            <a:r>
              <a:rPr sz="700" b="1">
                <a:solidFill>
                  <a:srgbClr val="000000"/>
                </a:solidFill>
              </a:rPr>
              <a:t>Deployment
Notes</a:t>
            </a:r>
          </a:p>
        </p:txBody>
      </p:sp>
      <p:sp>
        <p:nvSpPr>
          <p:cNvPr id="30" name="Rectangle 29"/>
          <p:cNvSpPr/>
          <p:nvPr/>
        </p:nvSpPr>
        <p:spPr>
          <a:xfrm>
            <a:off x="4297680" y="804672"/>
            <a:ext cx="822960" cy="493776"/>
          </a:xfrm>
          <a:prstGeom prst="rect">
            <a:avLst/>
          </a:prstGeom>
          <a:solidFill>
            <a:srgbClr val="F5F5F5"/>
          </a:solidFill>
          <a:ln w="6350">
            <a:solidFill>
              <a:srgbClr val="CCA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334256" y="822960"/>
            <a:ext cx="749808" cy="493776"/>
          </a:xfrm>
          <a:prstGeom prst="rect">
            <a:avLst/>
          </a:prstGeom>
          <a:noFill/>
        </p:spPr>
        <p:txBody>
          <a:bodyPr wrap="square">
            <a:spAutoFit/>
          </a:bodyPr>
          <a:lstStyle/>
          <a:p>
            <a:pPr algn="ctr"/>
            <a:r>
              <a:rPr sz="700" b="1">
                <a:solidFill>
                  <a:srgbClr val="000000"/>
                </a:solidFill>
              </a:rPr>
              <a:t>Historical
Postmortems</a:t>
            </a:r>
          </a:p>
        </p:txBody>
      </p:sp>
      <p:sp>
        <p:nvSpPr>
          <p:cNvPr id="32" name="Rectangle 31"/>
          <p:cNvSpPr/>
          <p:nvPr/>
        </p:nvSpPr>
        <p:spPr>
          <a:xfrm>
            <a:off x="5303520" y="804672"/>
            <a:ext cx="822960" cy="493776"/>
          </a:xfrm>
          <a:prstGeom prst="rect">
            <a:avLst/>
          </a:prstGeom>
          <a:solidFill>
            <a:srgbClr val="F5F5F5"/>
          </a:solidFill>
          <a:ln w="6350">
            <a:solidFill>
              <a:srgbClr val="CCA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340096" y="822960"/>
            <a:ext cx="749808" cy="493776"/>
          </a:xfrm>
          <a:prstGeom prst="rect">
            <a:avLst/>
          </a:prstGeom>
          <a:noFill/>
        </p:spPr>
        <p:txBody>
          <a:bodyPr wrap="square">
            <a:spAutoFit/>
          </a:bodyPr>
          <a:lstStyle/>
          <a:p>
            <a:pPr algn="ctr"/>
            <a:r>
              <a:rPr sz="700" b="1">
                <a:solidFill>
                  <a:srgbClr val="000000"/>
                </a:solidFill>
              </a:rPr>
              <a:t>Manual
Input</a:t>
            </a:r>
          </a:p>
        </p:txBody>
      </p:sp>
      <p:sp>
        <p:nvSpPr>
          <p:cNvPr id="34" name="Rectangle 33"/>
          <p:cNvSpPr/>
          <p:nvPr/>
        </p:nvSpPr>
        <p:spPr>
          <a:xfrm>
            <a:off x="1280160" y="1444752"/>
            <a:ext cx="4754880" cy="475488"/>
          </a:xfrm>
          <a:prstGeom prst="rect">
            <a:avLst/>
          </a:prstGeom>
          <a:solidFill>
            <a:srgbClr val="E8F4FD"/>
          </a:solidFill>
          <a:ln w="6350">
            <a:solidFill>
              <a:srgbClr val="1360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389888" y="1463040"/>
            <a:ext cx="2743200" cy="201168"/>
          </a:xfrm>
          <a:prstGeom prst="rect">
            <a:avLst/>
          </a:prstGeom>
          <a:noFill/>
        </p:spPr>
        <p:txBody>
          <a:bodyPr wrap="square">
            <a:spAutoFit/>
          </a:bodyPr>
          <a:lstStyle/>
          <a:p>
            <a:pPr algn="l"/>
            <a:r>
              <a:rPr sz="900" b="1">
                <a:solidFill>
                  <a:srgbClr val="13608B"/>
                </a:solidFill>
              </a:rPr>
              <a:t>Data Ingestion Layer</a:t>
            </a:r>
          </a:p>
        </p:txBody>
      </p:sp>
      <p:sp>
        <p:nvSpPr>
          <p:cNvPr id="36" name="TextBox 35"/>
          <p:cNvSpPr txBox="1"/>
          <p:nvPr/>
        </p:nvSpPr>
        <p:spPr>
          <a:xfrm>
            <a:off x="1389888" y="1682496"/>
            <a:ext cx="4572000" cy="201168"/>
          </a:xfrm>
          <a:prstGeom prst="rect">
            <a:avLst/>
          </a:prstGeom>
          <a:noFill/>
        </p:spPr>
        <p:txBody>
          <a:bodyPr wrap="square">
            <a:spAutoFit/>
          </a:bodyPr>
          <a:lstStyle/>
          <a:p>
            <a:pPr algn="l"/>
            <a:r>
              <a:rPr sz="750" b="0">
                <a:solidFill>
                  <a:srgbClr val="444444"/>
                </a:solidFill>
              </a:rPr>
              <a:t>pandas · pdfplumber · JSON/CSV parsers → Unified Incident Schema</a:t>
            </a:r>
          </a:p>
        </p:txBody>
      </p:sp>
      <p:sp>
        <p:nvSpPr>
          <p:cNvPr id="37" name="TextBox 36"/>
          <p:cNvSpPr txBox="1"/>
          <p:nvPr/>
        </p:nvSpPr>
        <p:spPr>
          <a:xfrm>
            <a:off x="4160520" y="1847088"/>
            <a:ext cx="457200" cy="182880"/>
          </a:xfrm>
          <a:prstGeom prst="rect">
            <a:avLst/>
          </a:prstGeom>
          <a:noFill/>
        </p:spPr>
        <p:txBody>
          <a:bodyPr wrap="square">
            <a:spAutoFit/>
          </a:bodyPr>
          <a:lstStyle/>
          <a:p>
            <a:pPr algn="ctr"/>
            <a:r>
              <a:rPr sz="1400" b="0" dirty="0">
                <a:solidFill>
                  <a:srgbClr val="13608B"/>
                </a:solidFill>
              </a:rPr>
              <a:t>▼</a:t>
            </a:r>
          </a:p>
        </p:txBody>
      </p:sp>
      <p:sp>
        <p:nvSpPr>
          <p:cNvPr id="38" name="Rectangle 37"/>
          <p:cNvSpPr/>
          <p:nvPr/>
        </p:nvSpPr>
        <p:spPr>
          <a:xfrm>
            <a:off x="1280160" y="2084831"/>
            <a:ext cx="3017520" cy="475488"/>
          </a:xfrm>
          <a:prstGeom prst="rect">
            <a:avLst/>
          </a:prstGeom>
          <a:solidFill>
            <a:srgbClr val="FDF6E8"/>
          </a:solidFill>
          <a:ln w="6350">
            <a:solidFill>
              <a:srgbClr val="CCA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389888" y="2103120"/>
            <a:ext cx="2743200" cy="201168"/>
          </a:xfrm>
          <a:prstGeom prst="rect">
            <a:avLst/>
          </a:prstGeom>
          <a:noFill/>
        </p:spPr>
        <p:txBody>
          <a:bodyPr wrap="square">
            <a:spAutoFit/>
          </a:bodyPr>
          <a:lstStyle/>
          <a:p>
            <a:pPr algn="l"/>
            <a:r>
              <a:rPr sz="900" b="1">
                <a:solidFill>
                  <a:srgbClr val="CCA23F"/>
                </a:solidFill>
              </a:rPr>
              <a:t>ChromaDB — Vector Memory</a:t>
            </a:r>
          </a:p>
        </p:txBody>
      </p:sp>
      <p:sp>
        <p:nvSpPr>
          <p:cNvPr id="40" name="TextBox 39"/>
          <p:cNvSpPr txBox="1"/>
          <p:nvPr/>
        </p:nvSpPr>
        <p:spPr>
          <a:xfrm>
            <a:off x="1389888" y="2322576"/>
            <a:ext cx="2834640" cy="201168"/>
          </a:xfrm>
          <a:prstGeom prst="rect">
            <a:avLst/>
          </a:prstGeom>
          <a:noFill/>
        </p:spPr>
        <p:txBody>
          <a:bodyPr wrap="square">
            <a:spAutoFit/>
          </a:bodyPr>
          <a:lstStyle/>
          <a:p>
            <a:pPr algn="l"/>
            <a:r>
              <a:rPr sz="750" b="0">
                <a:solidFill>
                  <a:srgbClr val="444444"/>
                </a:solidFill>
              </a:rPr>
              <a:t>Embeds 1,000+ historical incidents · Top-3 similarity retrieval</a:t>
            </a:r>
          </a:p>
        </p:txBody>
      </p:sp>
      <p:sp>
        <p:nvSpPr>
          <p:cNvPr id="41" name="Rectangle 40"/>
          <p:cNvSpPr/>
          <p:nvPr/>
        </p:nvSpPr>
        <p:spPr>
          <a:xfrm>
            <a:off x="4480560" y="2092972"/>
            <a:ext cx="3291840" cy="475488"/>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90288" y="2103120"/>
            <a:ext cx="3108960" cy="201168"/>
          </a:xfrm>
          <a:prstGeom prst="rect">
            <a:avLst/>
          </a:prstGeom>
          <a:noFill/>
        </p:spPr>
        <p:txBody>
          <a:bodyPr wrap="square">
            <a:spAutoFit/>
          </a:bodyPr>
          <a:lstStyle/>
          <a:p>
            <a:pPr algn="l"/>
            <a:r>
              <a:rPr sz="900" b="1">
                <a:solidFill>
                  <a:srgbClr val="000000"/>
                </a:solidFill>
              </a:rPr>
              <a:t>Seed Datasets</a:t>
            </a:r>
          </a:p>
        </p:txBody>
      </p:sp>
      <p:sp>
        <p:nvSpPr>
          <p:cNvPr id="43" name="TextBox 42"/>
          <p:cNvSpPr txBox="1"/>
          <p:nvPr/>
        </p:nvSpPr>
        <p:spPr>
          <a:xfrm>
            <a:off x="4590288" y="2322576"/>
            <a:ext cx="3108960" cy="201168"/>
          </a:xfrm>
          <a:prstGeom prst="rect">
            <a:avLst/>
          </a:prstGeom>
          <a:noFill/>
        </p:spPr>
        <p:txBody>
          <a:bodyPr wrap="square">
            <a:spAutoFit/>
          </a:bodyPr>
          <a:lstStyle/>
          <a:p>
            <a:pPr algn="l"/>
            <a:r>
              <a:rPr sz="750" b="0">
                <a:solidFill>
                  <a:srgbClr val="444444"/>
                </a:solidFill>
              </a:rPr>
              <a:t>PAG (950) · IT-incidents (4K) · danluu postmortems · HDFS logs</a:t>
            </a:r>
          </a:p>
        </p:txBody>
      </p:sp>
      <p:sp>
        <p:nvSpPr>
          <p:cNvPr id="44" name="TextBox 43"/>
          <p:cNvSpPr txBox="1"/>
          <p:nvPr/>
        </p:nvSpPr>
        <p:spPr>
          <a:xfrm>
            <a:off x="4160520" y="2464308"/>
            <a:ext cx="457200" cy="182880"/>
          </a:xfrm>
          <a:prstGeom prst="rect">
            <a:avLst/>
          </a:prstGeom>
          <a:noFill/>
        </p:spPr>
        <p:txBody>
          <a:bodyPr wrap="square">
            <a:spAutoFit/>
          </a:bodyPr>
          <a:lstStyle/>
          <a:p>
            <a:pPr algn="ctr"/>
            <a:r>
              <a:rPr sz="1400" b="0" dirty="0">
                <a:solidFill>
                  <a:srgbClr val="13608B"/>
                </a:solidFill>
              </a:rPr>
              <a:t>▼</a:t>
            </a:r>
          </a:p>
        </p:txBody>
      </p:sp>
      <p:sp>
        <p:nvSpPr>
          <p:cNvPr id="45" name="Rectangle 44"/>
          <p:cNvSpPr/>
          <p:nvPr/>
        </p:nvSpPr>
        <p:spPr>
          <a:xfrm>
            <a:off x="1280160" y="2724912"/>
            <a:ext cx="6492240" cy="475488"/>
          </a:xfrm>
          <a:prstGeom prst="rect">
            <a:avLst/>
          </a:prstGeom>
          <a:solidFill>
            <a:srgbClr val="E8F0FD"/>
          </a:solidFill>
          <a:ln w="9525">
            <a:solidFill>
              <a:srgbClr val="1360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389888" y="2743200"/>
            <a:ext cx="4572000" cy="201168"/>
          </a:xfrm>
          <a:prstGeom prst="rect">
            <a:avLst/>
          </a:prstGeom>
          <a:noFill/>
        </p:spPr>
        <p:txBody>
          <a:bodyPr wrap="square">
            <a:spAutoFit/>
          </a:bodyPr>
          <a:lstStyle/>
          <a:p>
            <a:pPr algn="l"/>
            <a:r>
              <a:rPr sz="900" b="1">
                <a:solidFill>
                  <a:srgbClr val="13608B"/>
                </a:solidFill>
              </a:rPr>
              <a:t>Anthropic Claude  (claude-opus-4-7 · 200K context)</a:t>
            </a:r>
          </a:p>
        </p:txBody>
      </p:sp>
      <p:sp>
        <p:nvSpPr>
          <p:cNvPr id="47" name="TextBox 46"/>
          <p:cNvSpPr txBox="1"/>
          <p:nvPr/>
        </p:nvSpPr>
        <p:spPr>
          <a:xfrm>
            <a:off x="1389888" y="2962656"/>
            <a:ext cx="6309360" cy="201168"/>
          </a:xfrm>
          <a:prstGeom prst="rect">
            <a:avLst/>
          </a:prstGeom>
          <a:noFill/>
        </p:spPr>
        <p:txBody>
          <a:bodyPr wrap="square">
            <a:spAutoFit/>
          </a:bodyPr>
          <a:lstStyle/>
          <a:p>
            <a:pPr algn="l"/>
            <a:r>
              <a:rPr sz="750" b="0">
                <a:solidFill>
                  <a:srgbClr val="444444"/>
                </a:solidFill>
              </a:rPr>
              <a:t>Step 1: Signal Correlation   →   Step 2: Root Cause Reasoning   →   Step 3: Next-Step Recommendations</a:t>
            </a:r>
          </a:p>
        </p:txBody>
      </p:sp>
      <p:sp>
        <p:nvSpPr>
          <p:cNvPr id="48" name="TextBox 47"/>
          <p:cNvSpPr txBox="1"/>
          <p:nvPr/>
        </p:nvSpPr>
        <p:spPr>
          <a:xfrm>
            <a:off x="4206240" y="3118104"/>
            <a:ext cx="457200" cy="182880"/>
          </a:xfrm>
          <a:prstGeom prst="rect">
            <a:avLst/>
          </a:prstGeom>
          <a:noFill/>
        </p:spPr>
        <p:txBody>
          <a:bodyPr wrap="square">
            <a:spAutoFit/>
          </a:bodyPr>
          <a:lstStyle/>
          <a:p>
            <a:pPr algn="ctr"/>
            <a:r>
              <a:rPr sz="1400" b="0" dirty="0">
                <a:solidFill>
                  <a:srgbClr val="CCA23F"/>
                </a:solidFill>
              </a:rPr>
              <a:t>▼</a:t>
            </a:r>
          </a:p>
        </p:txBody>
      </p:sp>
      <p:sp>
        <p:nvSpPr>
          <p:cNvPr id="49" name="Rectangle 48"/>
          <p:cNvSpPr/>
          <p:nvPr/>
        </p:nvSpPr>
        <p:spPr>
          <a:xfrm>
            <a:off x="1280160" y="3364992"/>
            <a:ext cx="6492240" cy="475488"/>
          </a:xfrm>
          <a:prstGeom prst="rect">
            <a:avLst/>
          </a:prstGeom>
          <a:solidFill>
            <a:srgbClr val="FDF6E8"/>
          </a:solidFill>
          <a:ln w="9525">
            <a:solidFill>
              <a:srgbClr val="CCA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389888" y="3383280"/>
            <a:ext cx="3657600" cy="201168"/>
          </a:xfrm>
          <a:prstGeom prst="rect">
            <a:avLst/>
          </a:prstGeom>
          <a:noFill/>
        </p:spPr>
        <p:txBody>
          <a:bodyPr wrap="square">
            <a:spAutoFit/>
          </a:bodyPr>
          <a:lstStyle/>
          <a:p>
            <a:pPr algn="l"/>
            <a:r>
              <a:rPr sz="900" b="1">
                <a:solidFill>
                  <a:srgbClr val="CCA23F"/>
                </a:solidFill>
              </a:rPr>
              <a:t>Giskard AI — Trust &amp; Validation Layer</a:t>
            </a:r>
          </a:p>
        </p:txBody>
      </p:sp>
      <p:sp>
        <p:nvSpPr>
          <p:cNvPr id="51" name="TextBox 50"/>
          <p:cNvSpPr txBox="1"/>
          <p:nvPr/>
        </p:nvSpPr>
        <p:spPr>
          <a:xfrm>
            <a:off x="1389888" y="3602736"/>
            <a:ext cx="6309360" cy="201168"/>
          </a:xfrm>
          <a:prstGeom prst="rect">
            <a:avLst/>
          </a:prstGeom>
          <a:noFill/>
        </p:spPr>
        <p:txBody>
          <a:bodyPr wrap="square">
            <a:spAutoFit/>
          </a:bodyPr>
          <a:lstStyle/>
          <a:p>
            <a:pPr algn="l"/>
            <a:r>
              <a:rPr sz="750" b="0">
                <a:solidFill>
                  <a:srgbClr val="444444"/>
                </a:solidFill>
              </a:rPr>
              <a:t>Hallucination Detection  ·  Grounding Check (RCA supported by input?)  ·  Confidence Scoring  ·  Flag unsupported claims</a:t>
            </a:r>
          </a:p>
        </p:txBody>
      </p:sp>
      <p:sp>
        <p:nvSpPr>
          <p:cNvPr id="52" name="TextBox 51"/>
          <p:cNvSpPr txBox="1"/>
          <p:nvPr/>
        </p:nvSpPr>
        <p:spPr>
          <a:xfrm>
            <a:off x="4224528" y="3767328"/>
            <a:ext cx="457200" cy="182880"/>
          </a:xfrm>
          <a:prstGeom prst="rect">
            <a:avLst/>
          </a:prstGeom>
          <a:noFill/>
        </p:spPr>
        <p:txBody>
          <a:bodyPr wrap="square">
            <a:spAutoFit/>
          </a:bodyPr>
          <a:lstStyle/>
          <a:p>
            <a:pPr algn="ctr"/>
            <a:r>
              <a:rPr sz="1400" b="0" dirty="0">
                <a:solidFill>
                  <a:srgbClr val="13608B"/>
                </a:solidFill>
              </a:rPr>
              <a:t>▼</a:t>
            </a:r>
          </a:p>
        </p:txBody>
      </p:sp>
      <p:sp>
        <p:nvSpPr>
          <p:cNvPr id="53" name="Rectangle 52"/>
          <p:cNvSpPr/>
          <p:nvPr/>
        </p:nvSpPr>
        <p:spPr>
          <a:xfrm>
            <a:off x="1280160" y="4005072"/>
            <a:ext cx="914400" cy="493776"/>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316736" y="4023360"/>
            <a:ext cx="841248" cy="457200"/>
          </a:xfrm>
          <a:prstGeom prst="rect">
            <a:avLst/>
          </a:prstGeom>
          <a:noFill/>
        </p:spPr>
        <p:txBody>
          <a:bodyPr wrap="square">
            <a:spAutoFit/>
          </a:bodyPr>
          <a:lstStyle/>
          <a:p>
            <a:pPr algn="ctr"/>
            <a:r>
              <a:rPr sz="700" b="1">
                <a:solidFill>
                  <a:srgbClr val="FFFFFF"/>
                </a:solidFill>
              </a:rPr>
              <a:t>Probable
Root Cause</a:t>
            </a:r>
          </a:p>
        </p:txBody>
      </p:sp>
      <p:sp>
        <p:nvSpPr>
          <p:cNvPr id="55" name="Rectangle 54"/>
          <p:cNvSpPr/>
          <p:nvPr/>
        </p:nvSpPr>
        <p:spPr>
          <a:xfrm>
            <a:off x="2377440" y="4005072"/>
            <a:ext cx="914400" cy="493776"/>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414016" y="4023360"/>
            <a:ext cx="841248" cy="457200"/>
          </a:xfrm>
          <a:prstGeom prst="rect">
            <a:avLst/>
          </a:prstGeom>
          <a:noFill/>
        </p:spPr>
        <p:txBody>
          <a:bodyPr wrap="square">
            <a:spAutoFit/>
          </a:bodyPr>
          <a:lstStyle/>
          <a:p>
            <a:pPr algn="ctr"/>
            <a:r>
              <a:rPr sz="700" b="1">
                <a:solidFill>
                  <a:srgbClr val="FFFFFF"/>
                </a:solidFill>
              </a:rPr>
              <a:t>Confidence
Score 0–100</a:t>
            </a:r>
          </a:p>
        </p:txBody>
      </p:sp>
      <p:sp>
        <p:nvSpPr>
          <p:cNvPr id="57" name="Rectangle 56"/>
          <p:cNvSpPr/>
          <p:nvPr/>
        </p:nvSpPr>
        <p:spPr>
          <a:xfrm>
            <a:off x="3474720" y="4005072"/>
            <a:ext cx="914400" cy="493776"/>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511296" y="4023360"/>
            <a:ext cx="841248" cy="457200"/>
          </a:xfrm>
          <a:prstGeom prst="rect">
            <a:avLst/>
          </a:prstGeom>
          <a:noFill/>
        </p:spPr>
        <p:txBody>
          <a:bodyPr wrap="square">
            <a:spAutoFit/>
          </a:bodyPr>
          <a:lstStyle/>
          <a:p>
            <a:pPr algn="ctr"/>
            <a:r>
              <a:rPr sz="700" b="1">
                <a:solidFill>
                  <a:srgbClr val="FFFFFF"/>
                </a:solidFill>
              </a:rPr>
              <a:t>Next
Investigation Steps</a:t>
            </a:r>
          </a:p>
        </p:txBody>
      </p:sp>
      <p:sp>
        <p:nvSpPr>
          <p:cNvPr id="59" name="Rectangle 58"/>
          <p:cNvSpPr/>
          <p:nvPr/>
        </p:nvSpPr>
        <p:spPr>
          <a:xfrm>
            <a:off x="4663440" y="4005072"/>
            <a:ext cx="914400" cy="493776"/>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700016" y="4023360"/>
            <a:ext cx="841248" cy="457200"/>
          </a:xfrm>
          <a:prstGeom prst="rect">
            <a:avLst/>
          </a:prstGeom>
          <a:noFill/>
        </p:spPr>
        <p:txBody>
          <a:bodyPr wrap="square">
            <a:spAutoFit/>
          </a:bodyPr>
          <a:lstStyle/>
          <a:p>
            <a:pPr algn="ctr"/>
            <a:r>
              <a:rPr sz="700" b="1">
                <a:solidFill>
                  <a:srgbClr val="FFFFFF"/>
                </a:solidFill>
              </a:rPr>
              <a:t>Similar Past
Incidents</a:t>
            </a:r>
          </a:p>
        </p:txBody>
      </p:sp>
      <p:sp>
        <p:nvSpPr>
          <p:cNvPr id="61" name="Rectangle 60"/>
          <p:cNvSpPr/>
          <p:nvPr/>
        </p:nvSpPr>
        <p:spPr>
          <a:xfrm>
            <a:off x="5760720" y="4005072"/>
            <a:ext cx="914400" cy="493776"/>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797296" y="4023360"/>
            <a:ext cx="841248" cy="457200"/>
          </a:xfrm>
          <a:prstGeom prst="rect">
            <a:avLst/>
          </a:prstGeom>
          <a:noFill/>
        </p:spPr>
        <p:txBody>
          <a:bodyPr wrap="square">
            <a:spAutoFit/>
          </a:bodyPr>
          <a:lstStyle/>
          <a:p>
            <a:pPr algn="ctr"/>
            <a:r>
              <a:rPr sz="700" b="1">
                <a:solidFill>
                  <a:srgbClr val="FFFFFF"/>
                </a:solidFill>
              </a:rPr>
              <a:t>Giskard
Status Badge</a:t>
            </a:r>
          </a:p>
        </p:txBody>
      </p:sp>
      <p:sp>
        <p:nvSpPr>
          <p:cNvPr id="63" name="Rectangle 62"/>
          <p:cNvSpPr/>
          <p:nvPr/>
        </p:nvSpPr>
        <p:spPr>
          <a:xfrm>
            <a:off x="384048" y="4617720"/>
            <a:ext cx="8375904"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384048" y="4645152"/>
            <a:ext cx="8375904" cy="365760"/>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75488" y="4663440"/>
            <a:ext cx="8229600" cy="215444"/>
          </a:xfrm>
          <a:prstGeom prst="rect">
            <a:avLst/>
          </a:prstGeom>
          <a:noFill/>
        </p:spPr>
        <p:txBody>
          <a:bodyPr wrap="square">
            <a:spAutoFit/>
          </a:bodyPr>
          <a:lstStyle/>
          <a:p>
            <a:pPr algn="ctr"/>
            <a:r>
              <a:rPr sz="800" b="0" dirty="0">
                <a:solidFill>
                  <a:srgbClr val="FFFFFF"/>
                </a:solidFill>
              </a:rPr>
              <a:t>Incident Input  →  Ingest &amp; Parse  →  </a:t>
            </a:r>
            <a:r>
              <a:rPr sz="800" b="0" dirty="0" err="1">
                <a:solidFill>
                  <a:srgbClr val="FFFFFF"/>
                </a:solidFill>
              </a:rPr>
              <a:t>ChromaDB</a:t>
            </a:r>
            <a:r>
              <a:rPr sz="800" b="0" dirty="0">
                <a:solidFill>
                  <a:srgbClr val="FFFFFF"/>
                </a:solidFill>
              </a:rPr>
              <a:t> Retrieve  →  Claude Correlate &amp; Reason  →  </a:t>
            </a:r>
            <a:r>
              <a:rPr sz="800" b="0" dirty="0" err="1">
                <a:solidFill>
                  <a:srgbClr val="FFFFFF"/>
                </a:solidFill>
              </a:rPr>
              <a:t>Giskard</a:t>
            </a:r>
            <a:r>
              <a:rPr sz="800" b="0" dirty="0">
                <a:solidFill>
                  <a:srgbClr val="FFFFFF"/>
                </a:solidFill>
              </a:rPr>
              <a:t> Validate  →  RCA</a:t>
            </a:r>
            <a:r>
              <a:rPr lang="en-US" sz="800" b="0" dirty="0">
                <a:solidFill>
                  <a:srgbClr val="FFFFFF"/>
                </a:solidFill>
              </a:rPr>
              <a:t> Report</a:t>
            </a:r>
            <a:endParaRPr sz="800" b="0" dirty="0">
              <a:solidFill>
                <a:srgbClr val="FFFFFF"/>
              </a:solidFill>
            </a:endParaRPr>
          </a:p>
        </p:txBody>
      </p:sp>
      <p:sp>
        <p:nvSpPr>
          <p:cNvPr id="66" name="Shape 2">
            <a:extLst>
              <a:ext uri="{FF2B5EF4-FFF2-40B4-BE49-F238E27FC236}">
                <a16:creationId xmlns:a16="http://schemas.microsoft.com/office/drawing/2014/main" id="{5FB89269-A996-5D52-4959-E42CEA03AFFE}"/>
              </a:ext>
            </a:extLst>
          </p:cNvPr>
          <p:cNvSpPr/>
          <p:nvPr/>
        </p:nvSpPr>
        <p:spPr>
          <a:xfrm>
            <a:off x="8229600" y="73153"/>
            <a:ext cx="723900" cy="649222"/>
          </a:xfrm>
          <a:prstGeom prst="ellipse">
            <a:avLst/>
          </a:prstGeom>
          <a:solidFill>
            <a:srgbClr val="FFFFFF"/>
          </a:solidFill>
          <a:ln w="25400">
            <a:solidFill>
              <a:srgbClr val="C9A84C"/>
            </a:solidFill>
            <a:prstDash val="solid"/>
          </a:ln>
        </p:spPr>
        <p:txBody>
          <a:bodyPr/>
          <a:lstStyle/>
          <a:p>
            <a:r>
              <a:rPr lang="en-US" dirty="0"/>
              <a:t>OFI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84048" y="118872"/>
            <a:ext cx="7680960" cy="329184"/>
          </a:xfrm>
          <a:prstGeom prst="rect">
            <a:avLst/>
          </a:prstGeom>
          <a:noFill/>
        </p:spPr>
        <p:txBody>
          <a:bodyPr wrap="square">
            <a:spAutoFit/>
          </a:bodyPr>
          <a:lstStyle/>
          <a:p>
            <a:pPr algn="l"/>
            <a:r>
              <a:rPr sz="1900" b="1">
                <a:solidFill>
                  <a:srgbClr val="000000"/>
                </a:solidFill>
              </a:rPr>
              <a:t>5-Day POC Implementation Plan</a:t>
            </a:r>
          </a:p>
        </p:txBody>
      </p:sp>
      <p:sp>
        <p:nvSpPr>
          <p:cNvPr id="3" name="TextBox 2"/>
          <p:cNvSpPr txBox="1"/>
          <p:nvPr/>
        </p:nvSpPr>
        <p:spPr>
          <a:xfrm>
            <a:off x="384048" y="457200"/>
            <a:ext cx="7772400" cy="164592"/>
          </a:xfrm>
          <a:prstGeom prst="rect">
            <a:avLst/>
          </a:prstGeom>
          <a:noFill/>
        </p:spPr>
        <p:txBody>
          <a:bodyPr wrap="square">
            <a:spAutoFit/>
          </a:bodyPr>
          <a:lstStyle/>
          <a:p>
            <a:pPr algn="l"/>
            <a:r>
              <a:rPr sz="850" b="0">
                <a:solidFill>
                  <a:srgbClr val="CCA23F"/>
                </a:solidFill>
              </a:rPr>
              <a:t>AI Incident Copilot  ·  Ofi  ·  Start to Working Demo</a:t>
            </a:r>
          </a:p>
        </p:txBody>
      </p:sp>
      <p:sp>
        <p:nvSpPr>
          <p:cNvPr id="4" name="Rectangle 3"/>
          <p:cNvSpPr/>
          <p:nvPr/>
        </p:nvSpPr>
        <p:spPr>
          <a:xfrm>
            <a:off x="384048" y="658368"/>
            <a:ext cx="8375904"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749808"/>
            <a:ext cx="1572768" cy="475488"/>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768096"/>
            <a:ext cx="1463040" cy="201168"/>
          </a:xfrm>
          <a:prstGeom prst="rect">
            <a:avLst/>
          </a:prstGeom>
          <a:noFill/>
        </p:spPr>
        <p:txBody>
          <a:bodyPr wrap="square">
            <a:spAutoFit/>
          </a:bodyPr>
          <a:lstStyle/>
          <a:p>
            <a:pPr algn="l"/>
            <a:r>
              <a:rPr sz="1100" b="1">
                <a:solidFill>
                  <a:srgbClr val="FFFFFF"/>
                </a:solidFill>
              </a:rPr>
              <a:t>Day 1</a:t>
            </a:r>
          </a:p>
        </p:txBody>
      </p:sp>
      <p:sp>
        <p:nvSpPr>
          <p:cNvPr id="7" name="TextBox 6"/>
          <p:cNvSpPr txBox="1"/>
          <p:nvPr/>
        </p:nvSpPr>
        <p:spPr>
          <a:xfrm>
            <a:off x="457200" y="969264"/>
            <a:ext cx="1463040" cy="219456"/>
          </a:xfrm>
          <a:prstGeom prst="rect">
            <a:avLst/>
          </a:prstGeom>
          <a:noFill/>
        </p:spPr>
        <p:txBody>
          <a:bodyPr wrap="square">
            <a:spAutoFit/>
          </a:bodyPr>
          <a:lstStyle/>
          <a:p>
            <a:pPr algn="l"/>
            <a:r>
              <a:rPr sz="800" b="0">
                <a:solidFill>
                  <a:srgbClr val="FFFFFF"/>
                </a:solidFill>
              </a:rPr>
              <a:t>Data Foundation</a:t>
            </a:r>
          </a:p>
        </p:txBody>
      </p:sp>
      <p:sp>
        <p:nvSpPr>
          <p:cNvPr id="8" name="Rectangle 7"/>
          <p:cNvSpPr/>
          <p:nvPr/>
        </p:nvSpPr>
        <p:spPr>
          <a:xfrm>
            <a:off x="384048" y="1243584"/>
            <a:ext cx="1572768" cy="3255264"/>
          </a:xfrm>
          <a:prstGeom prst="rect">
            <a:avLst/>
          </a:prstGeom>
          <a:solidFill>
            <a:srgbClr val="F5F5F5"/>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298448"/>
            <a:ext cx="36576" cy="548640"/>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298448"/>
            <a:ext cx="1335024" cy="658368"/>
          </a:xfrm>
          <a:prstGeom prst="rect">
            <a:avLst/>
          </a:prstGeom>
          <a:noFill/>
        </p:spPr>
        <p:txBody>
          <a:bodyPr wrap="square">
            <a:spAutoFit/>
          </a:bodyPr>
          <a:lstStyle/>
          <a:p>
            <a:pPr algn="l"/>
            <a:r>
              <a:rPr sz="750" b="0">
                <a:solidFill>
                  <a:srgbClr val="444444"/>
                </a:solidFill>
              </a:rPr>
              <a:t>Download PAG (950 incidents), IT-incidents (4K), danluu postmortems</a:t>
            </a:r>
          </a:p>
        </p:txBody>
      </p:sp>
      <p:sp>
        <p:nvSpPr>
          <p:cNvPr id="11" name="Rectangle 10"/>
          <p:cNvSpPr/>
          <p:nvPr/>
        </p:nvSpPr>
        <p:spPr>
          <a:xfrm>
            <a:off x="457200" y="2048255"/>
            <a:ext cx="36576" cy="548640"/>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2048255"/>
            <a:ext cx="1335024" cy="658368"/>
          </a:xfrm>
          <a:prstGeom prst="rect">
            <a:avLst/>
          </a:prstGeom>
          <a:noFill/>
        </p:spPr>
        <p:txBody>
          <a:bodyPr wrap="square">
            <a:spAutoFit/>
          </a:bodyPr>
          <a:lstStyle/>
          <a:p>
            <a:pPr algn="l"/>
            <a:r>
              <a:rPr sz="750" b="0">
                <a:solidFill>
                  <a:srgbClr val="444444"/>
                </a:solidFill>
              </a:rPr>
              <a:t>Build ingestion layer → unified incident schema (JSON)</a:t>
            </a:r>
          </a:p>
        </p:txBody>
      </p:sp>
      <p:sp>
        <p:nvSpPr>
          <p:cNvPr id="13" name="Rectangle 12"/>
          <p:cNvSpPr/>
          <p:nvPr/>
        </p:nvSpPr>
        <p:spPr>
          <a:xfrm>
            <a:off x="457200" y="2798063"/>
            <a:ext cx="36576" cy="548640"/>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2798063"/>
            <a:ext cx="1335024" cy="658368"/>
          </a:xfrm>
          <a:prstGeom prst="rect">
            <a:avLst/>
          </a:prstGeom>
          <a:noFill/>
        </p:spPr>
        <p:txBody>
          <a:bodyPr wrap="square">
            <a:spAutoFit/>
          </a:bodyPr>
          <a:lstStyle/>
          <a:p>
            <a:pPr algn="l"/>
            <a:r>
              <a:rPr sz="750" b="0">
                <a:solidFill>
                  <a:srgbClr val="444444"/>
                </a:solidFill>
              </a:rPr>
              <a:t>Generate 50 synthetic incidents with Claude (ground truth labels)</a:t>
            </a:r>
          </a:p>
        </p:txBody>
      </p:sp>
      <p:sp>
        <p:nvSpPr>
          <p:cNvPr id="15" name="Rectangle 14"/>
          <p:cNvSpPr/>
          <p:nvPr/>
        </p:nvSpPr>
        <p:spPr>
          <a:xfrm>
            <a:off x="457200" y="3547872"/>
            <a:ext cx="36576" cy="548640"/>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3547872"/>
            <a:ext cx="1335024" cy="658368"/>
          </a:xfrm>
          <a:prstGeom prst="rect">
            <a:avLst/>
          </a:prstGeom>
          <a:noFill/>
        </p:spPr>
        <p:txBody>
          <a:bodyPr wrap="square">
            <a:spAutoFit/>
          </a:bodyPr>
          <a:lstStyle/>
          <a:p>
            <a:pPr algn="l"/>
            <a:r>
              <a:rPr sz="750" b="0">
                <a:solidFill>
                  <a:srgbClr val="444444"/>
                </a:solidFill>
              </a:rPr>
              <a:t>Deliverable: 1,000+ incidents in clean, queryable format</a:t>
            </a:r>
          </a:p>
        </p:txBody>
      </p:sp>
      <p:sp>
        <p:nvSpPr>
          <p:cNvPr id="17" name="Rectangle 16"/>
          <p:cNvSpPr/>
          <p:nvPr/>
        </p:nvSpPr>
        <p:spPr>
          <a:xfrm>
            <a:off x="2020824" y="749808"/>
            <a:ext cx="1572768" cy="475488"/>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93976" y="768096"/>
            <a:ext cx="1463040" cy="201168"/>
          </a:xfrm>
          <a:prstGeom prst="rect">
            <a:avLst/>
          </a:prstGeom>
          <a:noFill/>
        </p:spPr>
        <p:txBody>
          <a:bodyPr wrap="square">
            <a:spAutoFit/>
          </a:bodyPr>
          <a:lstStyle/>
          <a:p>
            <a:pPr algn="l"/>
            <a:r>
              <a:rPr sz="1100" b="1">
                <a:solidFill>
                  <a:srgbClr val="FFFFFF"/>
                </a:solidFill>
              </a:rPr>
              <a:t>Day 2</a:t>
            </a:r>
          </a:p>
        </p:txBody>
      </p:sp>
      <p:sp>
        <p:nvSpPr>
          <p:cNvPr id="19" name="TextBox 18"/>
          <p:cNvSpPr txBox="1"/>
          <p:nvPr/>
        </p:nvSpPr>
        <p:spPr>
          <a:xfrm>
            <a:off x="2093976" y="969264"/>
            <a:ext cx="1463040" cy="219456"/>
          </a:xfrm>
          <a:prstGeom prst="rect">
            <a:avLst/>
          </a:prstGeom>
          <a:noFill/>
        </p:spPr>
        <p:txBody>
          <a:bodyPr wrap="square">
            <a:spAutoFit/>
          </a:bodyPr>
          <a:lstStyle/>
          <a:p>
            <a:pPr algn="l"/>
            <a:r>
              <a:rPr sz="800" b="0">
                <a:solidFill>
                  <a:srgbClr val="FFFFFF"/>
                </a:solidFill>
              </a:rPr>
              <a:t>ChromaDB Memory Layer</a:t>
            </a:r>
          </a:p>
        </p:txBody>
      </p:sp>
      <p:sp>
        <p:nvSpPr>
          <p:cNvPr id="20" name="Rectangle 19"/>
          <p:cNvSpPr/>
          <p:nvPr/>
        </p:nvSpPr>
        <p:spPr>
          <a:xfrm>
            <a:off x="2020824" y="1243584"/>
            <a:ext cx="1572768" cy="3255264"/>
          </a:xfrm>
          <a:prstGeom prst="rect">
            <a:avLst/>
          </a:prstGeom>
          <a:solidFill>
            <a:srgbClr val="FFFFFF"/>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093976" y="1298448"/>
            <a:ext cx="36576" cy="548640"/>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185416" y="1298448"/>
            <a:ext cx="1335024" cy="658368"/>
          </a:xfrm>
          <a:prstGeom prst="rect">
            <a:avLst/>
          </a:prstGeom>
          <a:noFill/>
        </p:spPr>
        <p:txBody>
          <a:bodyPr wrap="square">
            <a:spAutoFit/>
          </a:bodyPr>
          <a:lstStyle/>
          <a:p>
            <a:pPr algn="l"/>
            <a:r>
              <a:rPr sz="750" b="0">
                <a:solidFill>
                  <a:srgbClr val="444444"/>
                </a:solidFill>
              </a:rPr>
              <a:t>Set up ChromaDB locally — zero config, fully offline</a:t>
            </a:r>
          </a:p>
        </p:txBody>
      </p:sp>
      <p:sp>
        <p:nvSpPr>
          <p:cNvPr id="23" name="Rectangle 22"/>
          <p:cNvSpPr/>
          <p:nvPr/>
        </p:nvSpPr>
        <p:spPr>
          <a:xfrm>
            <a:off x="2093976" y="2048255"/>
            <a:ext cx="36576" cy="548640"/>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85416" y="2048255"/>
            <a:ext cx="1335024" cy="658368"/>
          </a:xfrm>
          <a:prstGeom prst="rect">
            <a:avLst/>
          </a:prstGeom>
          <a:noFill/>
        </p:spPr>
        <p:txBody>
          <a:bodyPr wrap="square">
            <a:spAutoFit/>
          </a:bodyPr>
          <a:lstStyle/>
          <a:p>
            <a:pPr algn="l"/>
            <a:r>
              <a:rPr sz="750" b="0">
                <a:solidFill>
                  <a:srgbClr val="444444"/>
                </a:solidFill>
              </a:rPr>
              <a:t>Embed all incidents → cosine similarity index</a:t>
            </a:r>
          </a:p>
        </p:txBody>
      </p:sp>
      <p:sp>
        <p:nvSpPr>
          <p:cNvPr id="25" name="Rectangle 24"/>
          <p:cNvSpPr/>
          <p:nvPr/>
        </p:nvSpPr>
        <p:spPr>
          <a:xfrm>
            <a:off x="2093976" y="2798063"/>
            <a:ext cx="36576" cy="548640"/>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85416" y="2798063"/>
            <a:ext cx="1335024" cy="658368"/>
          </a:xfrm>
          <a:prstGeom prst="rect">
            <a:avLst/>
          </a:prstGeom>
          <a:noFill/>
        </p:spPr>
        <p:txBody>
          <a:bodyPr wrap="square">
            <a:spAutoFit/>
          </a:bodyPr>
          <a:lstStyle/>
          <a:p>
            <a:pPr algn="l"/>
            <a:r>
              <a:rPr sz="750" b="0">
                <a:solidFill>
                  <a:srgbClr val="444444"/>
                </a:solidFill>
              </a:rPr>
              <a:t>Build similarity_search.py → top-3 retrieval verified</a:t>
            </a:r>
          </a:p>
        </p:txBody>
      </p:sp>
      <p:sp>
        <p:nvSpPr>
          <p:cNvPr id="27" name="Rectangle 26"/>
          <p:cNvSpPr/>
          <p:nvPr/>
        </p:nvSpPr>
        <p:spPr>
          <a:xfrm>
            <a:off x="2093976" y="3547872"/>
            <a:ext cx="36576" cy="548640"/>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185416" y="3547872"/>
            <a:ext cx="1335024" cy="658368"/>
          </a:xfrm>
          <a:prstGeom prst="rect">
            <a:avLst/>
          </a:prstGeom>
          <a:noFill/>
        </p:spPr>
        <p:txBody>
          <a:bodyPr wrap="square">
            <a:spAutoFit/>
          </a:bodyPr>
          <a:lstStyle/>
          <a:p>
            <a:pPr algn="l"/>
            <a:r>
              <a:rPr sz="750" b="0">
                <a:solidFill>
                  <a:srgbClr val="444444"/>
                </a:solidFill>
              </a:rPr>
              <a:t>Deliverable: Given any incident, returns 3 semantically matched historical cases</a:t>
            </a:r>
          </a:p>
        </p:txBody>
      </p:sp>
      <p:sp>
        <p:nvSpPr>
          <p:cNvPr id="29" name="Rectangle 28"/>
          <p:cNvSpPr/>
          <p:nvPr/>
        </p:nvSpPr>
        <p:spPr>
          <a:xfrm>
            <a:off x="3657600" y="749808"/>
            <a:ext cx="1572768" cy="475488"/>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30752" y="768096"/>
            <a:ext cx="1463040" cy="201168"/>
          </a:xfrm>
          <a:prstGeom prst="rect">
            <a:avLst/>
          </a:prstGeom>
          <a:noFill/>
        </p:spPr>
        <p:txBody>
          <a:bodyPr wrap="square">
            <a:spAutoFit/>
          </a:bodyPr>
          <a:lstStyle/>
          <a:p>
            <a:pPr algn="l"/>
            <a:r>
              <a:rPr sz="1100" b="1">
                <a:solidFill>
                  <a:srgbClr val="FFFFFF"/>
                </a:solidFill>
              </a:rPr>
              <a:t>Day 3</a:t>
            </a:r>
          </a:p>
        </p:txBody>
      </p:sp>
      <p:sp>
        <p:nvSpPr>
          <p:cNvPr id="31" name="TextBox 30"/>
          <p:cNvSpPr txBox="1"/>
          <p:nvPr/>
        </p:nvSpPr>
        <p:spPr>
          <a:xfrm>
            <a:off x="3730752" y="969264"/>
            <a:ext cx="1463040" cy="219456"/>
          </a:xfrm>
          <a:prstGeom prst="rect">
            <a:avLst/>
          </a:prstGeom>
          <a:noFill/>
        </p:spPr>
        <p:txBody>
          <a:bodyPr wrap="square">
            <a:spAutoFit/>
          </a:bodyPr>
          <a:lstStyle/>
          <a:p>
            <a:pPr algn="l"/>
            <a:r>
              <a:rPr sz="800" b="0">
                <a:solidFill>
                  <a:srgbClr val="FFFFFF"/>
                </a:solidFill>
              </a:rPr>
              <a:t>Claude Reasoning Chain</a:t>
            </a:r>
          </a:p>
        </p:txBody>
      </p:sp>
      <p:sp>
        <p:nvSpPr>
          <p:cNvPr id="32" name="Rectangle 31"/>
          <p:cNvSpPr/>
          <p:nvPr/>
        </p:nvSpPr>
        <p:spPr>
          <a:xfrm>
            <a:off x="3657600" y="1243584"/>
            <a:ext cx="1572768" cy="3255264"/>
          </a:xfrm>
          <a:prstGeom prst="rect">
            <a:avLst/>
          </a:prstGeom>
          <a:solidFill>
            <a:srgbClr val="F5F5F5"/>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730752" y="1298448"/>
            <a:ext cx="36576" cy="548640"/>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822191" y="1298448"/>
            <a:ext cx="1335024" cy="658368"/>
          </a:xfrm>
          <a:prstGeom prst="rect">
            <a:avLst/>
          </a:prstGeom>
          <a:noFill/>
        </p:spPr>
        <p:txBody>
          <a:bodyPr wrap="square">
            <a:spAutoFit/>
          </a:bodyPr>
          <a:lstStyle/>
          <a:p>
            <a:pPr algn="l"/>
            <a:r>
              <a:rPr sz="750" b="0">
                <a:solidFill>
                  <a:srgbClr val="444444"/>
                </a:solidFill>
              </a:rPr>
              <a:t>Build LangChain LCEL chain: correlate → reason → recommend</a:t>
            </a:r>
          </a:p>
        </p:txBody>
      </p:sp>
      <p:sp>
        <p:nvSpPr>
          <p:cNvPr id="35" name="Rectangle 34"/>
          <p:cNvSpPr/>
          <p:nvPr/>
        </p:nvSpPr>
        <p:spPr>
          <a:xfrm>
            <a:off x="3730752" y="2048255"/>
            <a:ext cx="36576" cy="548640"/>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822191" y="2048255"/>
            <a:ext cx="1335024" cy="658368"/>
          </a:xfrm>
          <a:prstGeom prst="rect">
            <a:avLst/>
          </a:prstGeom>
          <a:noFill/>
        </p:spPr>
        <p:txBody>
          <a:bodyPr wrap="square">
            <a:spAutoFit/>
          </a:bodyPr>
          <a:lstStyle/>
          <a:p>
            <a:pPr algn="l"/>
            <a:r>
              <a:rPr sz="750" b="0">
                <a:solidFill>
                  <a:srgbClr val="444444"/>
                </a:solidFill>
              </a:rPr>
              <a:t>Wire ChromaDB retrieval into Claude prompt context</a:t>
            </a:r>
          </a:p>
        </p:txBody>
      </p:sp>
      <p:sp>
        <p:nvSpPr>
          <p:cNvPr id="37" name="Rectangle 36"/>
          <p:cNvSpPr/>
          <p:nvPr/>
        </p:nvSpPr>
        <p:spPr>
          <a:xfrm>
            <a:off x="3730752" y="2798063"/>
            <a:ext cx="36576" cy="548640"/>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822191" y="2798063"/>
            <a:ext cx="1335024" cy="658368"/>
          </a:xfrm>
          <a:prstGeom prst="rect">
            <a:avLst/>
          </a:prstGeom>
          <a:noFill/>
        </p:spPr>
        <p:txBody>
          <a:bodyPr wrap="square">
            <a:spAutoFit/>
          </a:bodyPr>
          <a:lstStyle/>
          <a:p>
            <a:pPr algn="l"/>
            <a:r>
              <a:rPr sz="750" b="0">
                <a:solidFill>
                  <a:srgbClr val="444444"/>
                </a:solidFill>
              </a:rPr>
              <a:t>Evaluate on 10 synthetic incidents vs ground truth root cause</a:t>
            </a:r>
          </a:p>
        </p:txBody>
      </p:sp>
      <p:sp>
        <p:nvSpPr>
          <p:cNvPr id="39" name="Rectangle 38"/>
          <p:cNvSpPr/>
          <p:nvPr/>
        </p:nvSpPr>
        <p:spPr>
          <a:xfrm>
            <a:off x="3730752" y="3547872"/>
            <a:ext cx="36576" cy="548640"/>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822191" y="3547872"/>
            <a:ext cx="1335024" cy="658368"/>
          </a:xfrm>
          <a:prstGeom prst="rect">
            <a:avLst/>
          </a:prstGeom>
          <a:noFill/>
        </p:spPr>
        <p:txBody>
          <a:bodyPr wrap="square">
            <a:spAutoFit/>
          </a:bodyPr>
          <a:lstStyle/>
          <a:p>
            <a:pPr algn="l"/>
            <a:r>
              <a:rPr sz="750" b="0">
                <a:solidFill>
                  <a:srgbClr val="444444"/>
                </a:solidFill>
              </a:rPr>
              <a:t>Deliverable: Full RCA JSON output in &lt; 30 seconds</a:t>
            </a:r>
          </a:p>
        </p:txBody>
      </p:sp>
      <p:sp>
        <p:nvSpPr>
          <p:cNvPr id="41" name="Rectangle 40"/>
          <p:cNvSpPr/>
          <p:nvPr/>
        </p:nvSpPr>
        <p:spPr>
          <a:xfrm>
            <a:off x="5294376" y="749808"/>
            <a:ext cx="1572768" cy="475488"/>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367528" y="768096"/>
            <a:ext cx="1463040" cy="201168"/>
          </a:xfrm>
          <a:prstGeom prst="rect">
            <a:avLst/>
          </a:prstGeom>
          <a:noFill/>
        </p:spPr>
        <p:txBody>
          <a:bodyPr wrap="square">
            <a:spAutoFit/>
          </a:bodyPr>
          <a:lstStyle/>
          <a:p>
            <a:pPr algn="l"/>
            <a:r>
              <a:rPr sz="1100" b="1">
                <a:solidFill>
                  <a:srgbClr val="FFFFFF"/>
                </a:solidFill>
              </a:rPr>
              <a:t>Day 4</a:t>
            </a:r>
          </a:p>
        </p:txBody>
      </p:sp>
      <p:sp>
        <p:nvSpPr>
          <p:cNvPr id="43" name="TextBox 42"/>
          <p:cNvSpPr txBox="1"/>
          <p:nvPr/>
        </p:nvSpPr>
        <p:spPr>
          <a:xfrm>
            <a:off x="5367528" y="969264"/>
            <a:ext cx="1463040" cy="219456"/>
          </a:xfrm>
          <a:prstGeom prst="rect">
            <a:avLst/>
          </a:prstGeom>
          <a:noFill/>
        </p:spPr>
        <p:txBody>
          <a:bodyPr wrap="square">
            <a:spAutoFit/>
          </a:bodyPr>
          <a:lstStyle/>
          <a:p>
            <a:pPr algn="l"/>
            <a:r>
              <a:rPr sz="800" b="0">
                <a:solidFill>
                  <a:srgbClr val="FFFFFF"/>
                </a:solidFill>
              </a:rPr>
              <a:t>Giskard Validation</a:t>
            </a:r>
          </a:p>
        </p:txBody>
      </p:sp>
      <p:sp>
        <p:nvSpPr>
          <p:cNvPr id="44" name="Rectangle 43"/>
          <p:cNvSpPr/>
          <p:nvPr/>
        </p:nvSpPr>
        <p:spPr>
          <a:xfrm>
            <a:off x="5294376" y="1243584"/>
            <a:ext cx="1572768" cy="3255264"/>
          </a:xfrm>
          <a:prstGeom prst="rect">
            <a:avLst/>
          </a:prstGeom>
          <a:solidFill>
            <a:srgbClr val="FFFFFF"/>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5367528" y="1298448"/>
            <a:ext cx="36576" cy="548640"/>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58968" y="1298448"/>
            <a:ext cx="1335024" cy="658368"/>
          </a:xfrm>
          <a:prstGeom prst="rect">
            <a:avLst/>
          </a:prstGeom>
          <a:noFill/>
        </p:spPr>
        <p:txBody>
          <a:bodyPr wrap="square">
            <a:spAutoFit/>
          </a:bodyPr>
          <a:lstStyle/>
          <a:p>
            <a:pPr algn="l"/>
            <a:r>
              <a:rPr sz="750" b="0">
                <a:solidFill>
                  <a:srgbClr val="444444"/>
                </a:solidFill>
              </a:rPr>
              <a:t>Wrap Claude chain as Giskard model, define test suite</a:t>
            </a:r>
          </a:p>
        </p:txBody>
      </p:sp>
      <p:sp>
        <p:nvSpPr>
          <p:cNvPr id="47" name="Rectangle 46"/>
          <p:cNvSpPr/>
          <p:nvPr/>
        </p:nvSpPr>
        <p:spPr>
          <a:xfrm>
            <a:off x="5367528" y="2048255"/>
            <a:ext cx="36576" cy="548640"/>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458968" y="2048255"/>
            <a:ext cx="1335024" cy="658368"/>
          </a:xfrm>
          <a:prstGeom prst="rect">
            <a:avLst/>
          </a:prstGeom>
          <a:noFill/>
        </p:spPr>
        <p:txBody>
          <a:bodyPr wrap="square">
            <a:spAutoFit/>
          </a:bodyPr>
          <a:lstStyle/>
          <a:p>
            <a:pPr algn="l"/>
            <a:r>
              <a:rPr sz="750" b="0">
                <a:solidFill>
                  <a:srgbClr val="444444"/>
                </a:solidFill>
              </a:rPr>
              <a:t>Hallucination check: any system names not in input signals?</a:t>
            </a:r>
          </a:p>
        </p:txBody>
      </p:sp>
      <p:sp>
        <p:nvSpPr>
          <p:cNvPr id="49" name="Rectangle 48"/>
          <p:cNvSpPr/>
          <p:nvPr/>
        </p:nvSpPr>
        <p:spPr>
          <a:xfrm>
            <a:off x="5367528" y="2798063"/>
            <a:ext cx="36576" cy="548640"/>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458968" y="2798063"/>
            <a:ext cx="1335024" cy="658368"/>
          </a:xfrm>
          <a:prstGeom prst="rect">
            <a:avLst/>
          </a:prstGeom>
          <a:noFill/>
        </p:spPr>
        <p:txBody>
          <a:bodyPr wrap="square">
            <a:spAutoFit/>
          </a:bodyPr>
          <a:lstStyle/>
          <a:p>
            <a:pPr algn="l"/>
            <a:r>
              <a:rPr sz="750" b="0">
                <a:solidFill>
                  <a:srgbClr val="444444"/>
                </a:solidFill>
              </a:rPr>
              <a:t>Grounding check: is root cause supported by provided evidence?</a:t>
            </a:r>
          </a:p>
        </p:txBody>
      </p:sp>
      <p:sp>
        <p:nvSpPr>
          <p:cNvPr id="51" name="Rectangle 50"/>
          <p:cNvSpPr/>
          <p:nvPr/>
        </p:nvSpPr>
        <p:spPr>
          <a:xfrm>
            <a:off x="5367528" y="3547872"/>
            <a:ext cx="36576" cy="548640"/>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458968" y="3547872"/>
            <a:ext cx="1335024" cy="658368"/>
          </a:xfrm>
          <a:prstGeom prst="rect">
            <a:avLst/>
          </a:prstGeom>
          <a:noFill/>
        </p:spPr>
        <p:txBody>
          <a:bodyPr wrap="square">
            <a:spAutoFit/>
          </a:bodyPr>
          <a:lstStyle/>
          <a:p>
            <a:pPr algn="l"/>
            <a:r>
              <a:rPr sz="750" b="0">
                <a:solidFill>
                  <a:srgbClr val="444444"/>
                </a:solidFill>
              </a:rPr>
              <a:t>Deliverable: Confidence score + PASS/FLAG badge on every RCA</a:t>
            </a:r>
          </a:p>
        </p:txBody>
      </p:sp>
      <p:sp>
        <p:nvSpPr>
          <p:cNvPr id="53" name="Rectangle 52"/>
          <p:cNvSpPr/>
          <p:nvPr/>
        </p:nvSpPr>
        <p:spPr>
          <a:xfrm>
            <a:off x="6931152" y="749808"/>
            <a:ext cx="1572768" cy="475488"/>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004304" y="768096"/>
            <a:ext cx="1463040" cy="201168"/>
          </a:xfrm>
          <a:prstGeom prst="rect">
            <a:avLst/>
          </a:prstGeom>
          <a:noFill/>
        </p:spPr>
        <p:txBody>
          <a:bodyPr wrap="square">
            <a:spAutoFit/>
          </a:bodyPr>
          <a:lstStyle/>
          <a:p>
            <a:pPr algn="l"/>
            <a:r>
              <a:rPr sz="1100" b="1">
                <a:solidFill>
                  <a:srgbClr val="FFFFFF"/>
                </a:solidFill>
              </a:rPr>
              <a:t>Day 5</a:t>
            </a:r>
          </a:p>
        </p:txBody>
      </p:sp>
      <p:sp>
        <p:nvSpPr>
          <p:cNvPr id="55" name="TextBox 54"/>
          <p:cNvSpPr txBox="1"/>
          <p:nvPr/>
        </p:nvSpPr>
        <p:spPr>
          <a:xfrm>
            <a:off x="7004304" y="941776"/>
            <a:ext cx="1463040" cy="219456"/>
          </a:xfrm>
          <a:prstGeom prst="rect">
            <a:avLst/>
          </a:prstGeom>
          <a:noFill/>
        </p:spPr>
        <p:txBody>
          <a:bodyPr wrap="square">
            <a:spAutoFit/>
          </a:bodyPr>
          <a:lstStyle/>
          <a:p>
            <a:pPr algn="l"/>
            <a:r>
              <a:rPr sz="800" b="0" dirty="0" err="1">
                <a:solidFill>
                  <a:srgbClr val="FFFFFF"/>
                </a:solidFill>
              </a:rPr>
              <a:t>Streamlit</a:t>
            </a:r>
            <a:r>
              <a:rPr sz="800" b="0" dirty="0">
                <a:solidFill>
                  <a:srgbClr val="FFFFFF"/>
                </a:solidFill>
              </a:rPr>
              <a:t> Dashboard + Demo Polish</a:t>
            </a:r>
          </a:p>
        </p:txBody>
      </p:sp>
      <p:sp>
        <p:nvSpPr>
          <p:cNvPr id="56" name="Rectangle 55"/>
          <p:cNvSpPr/>
          <p:nvPr/>
        </p:nvSpPr>
        <p:spPr>
          <a:xfrm>
            <a:off x="6931152" y="1243584"/>
            <a:ext cx="1572768" cy="3255264"/>
          </a:xfrm>
          <a:prstGeom prst="rect">
            <a:avLst/>
          </a:prstGeom>
          <a:solidFill>
            <a:srgbClr val="F5F5F5"/>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7004304" y="1298448"/>
            <a:ext cx="36576" cy="548640"/>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095744" y="1298448"/>
            <a:ext cx="1335024" cy="658368"/>
          </a:xfrm>
          <a:prstGeom prst="rect">
            <a:avLst/>
          </a:prstGeom>
          <a:noFill/>
        </p:spPr>
        <p:txBody>
          <a:bodyPr wrap="square">
            <a:spAutoFit/>
          </a:bodyPr>
          <a:lstStyle/>
          <a:p>
            <a:pPr algn="l"/>
            <a:r>
              <a:rPr sz="750" b="0">
                <a:solidFill>
                  <a:srgbClr val="444444"/>
                </a:solidFill>
              </a:rPr>
              <a:t>Build Streamlit UI: upload panel, RCA output, similar incidents</a:t>
            </a:r>
          </a:p>
        </p:txBody>
      </p:sp>
      <p:sp>
        <p:nvSpPr>
          <p:cNvPr id="59" name="Rectangle 58"/>
          <p:cNvSpPr/>
          <p:nvPr/>
        </p:nvSpPr>
        <p:spPr>
          <a:xfrm>
            <a:off x="7004304" y="2048255"/>
            <a:ext cx="36576" cy="548640"/>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095744" y="2048255"/>
            <a:ext cx="1335024" cy="658368"/>
          </a:xfrm>
          <a:prstGeom prst="rect">
            <a:avLst/>
          </a:prstGeom>
          <a:noFill/>
        </p:spPr>
        <p:txBody>
          <a:bodyPr wrap="square">
            <a:spAutoFit/>
          </a:bodyPr>
          <a:lstStyle/>
          <a:p>
            <a:pPr algn="l"/>
            <a:r>
              <a:rPr sz="750" b="0">
                <a:solidFill>
                  <a:srgbClr val="444444"/>
                </a:solidFill>
              </a:rPr>
              <a:t>Create 3 canned demo scenarios (ETL failure, API cascade, dashboard outage)</a:t>
            </a:r>
          </a:p>
        </p:txBody>
      </p:sp>
      <p:sp>
        <p:nvSpPr>
          <p:cNvPr id="61" name="Rectangle 60"/>
          <p:cNvSpPr/>
          <p:nvPr/>
        </p:nvSpPr>
        <p:spPr>
          <a:xfrm>
            <a:off x="7004304" y="2798063"/>
            <a:ext cx="36576" cy="548640"/>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095744" y="2798063"/>
            <a:ext cx="1335024" cy="658368"/>
          </a:xfrm>
          <a:prstGeom prst="rect">
            <a:avLst/>
          </a:prstGeom>
          <a:noFill/>
        </p:spPr>
        <p:txBody>
          <a:bodyPr wrap="square">
            <a:spAutoFit/>
          </a:bodyPr>
          <a:lstStyle/>
          <a:p>
            <a:pPr algn="l"/>
            <a:r>
              <a:rPr sz="750" b="0">
                <a:solidFill>
                  <a:srgbClr val="444444"/>
                </a:solidFill>
              </a:rPr>
              <a:t>make demo → one-command launch, full end-to-end in browser</a:t>
            </a:r>
          </a:p>
        </p:txBody>
      </p:sp>
      <p:sp>
        <p:nvSpPr>
          <p:cNvPr id="63" name="Rectangle 62"/>
          <p:cNvSpPr/>
          <p:nvPr/>
        </p:nvSpPr>
        <p:spPr>
          <a:xfrm>
            <a:off x="7004304" y="3547872"/>
            <a:ext cx="36576" cy="548640"/>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095744" y="3547872"/>
            <a:ext cx="1335024" cy="658368"/>
          </a:xfrm>
          <a:prstGeom prst="rect">
            <a:avLst/>
          </a:prstGeom>
          <a:noFill/>
        </p:spPr>
        <p:txBody>
          <a:bodyPr wrap="square">
            <a:spAutoFit/>
          </a:bodyPr>
          <a:lstStyle/>
          <a:p>
            <a:pPr algn="l"/>
            <a:r>
              <a:rPr sz="750" b="0">
                <a:solidFill>
                  <a:srgbClr val="444444"/>
                </a:solidFill>
              </a:rPr>
              <a:t>Deliverable: Presentation-ready demo for MD review</a:t>
            </a:r>
          </a:p>
        </p:txBody>
      </p:sp>
      <p:sp>
        <p:nvSpPr>
          <p:cNvPr id="65" name="Rectangle 64"/>
          <p:cNvSpPr/>
          <p:nvPr/>
        </p:nvSpPr>
        <p:spPr>
          <a:xfrm>
            <a:off x="384048" y="4645152"/>
            <a:ext cx="8375904"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20624" y="4690872"/>
            <a:ext cx="1344168" cy="182880"/>
          </a:xfrm>
          <a:prstGeom prst="rect">
            <a:avLst/>
          </a:prstGeom>
          <a:noFill/>
        </p:spPr>
        <p:txBody>
          <a:bodyPr wrap="square">
            <a:spAutoFit/>
          </a:bodyPr>
          <a:lstStyle/>
          <a:p>
            <a:pPr algn="l"/>
            <a:r>
              <a:rPr sz="1050" b="1">
                <a:solidFill>
                  <a:srgbClr val="000000"/>
                </a:solidFill>
              </a:rPr>
              <a:t>Day 1</a:t>
            </a:r>
          </a:p>
        </p:txBody>
      </p:sp>
      <p:sp>
        <p:nvSpPr>
          <p:cNvPr id="67" name="TextBox 66"/>
          <p:cNvSpPr txBox="1"/>
          <p:nvPr/>
        </p:nvSpPr>
        <p:spPr>
          <a:xfrm>
            <a:off x="420624" y="4882896"/>
            <a:ext cx="1344168" cy="146304"/>
          </a:xfrm>
          <a:prstGeom prst="rect">
            <a:avLst/>
          </a:prstGeom>
          <a:noFill/>
        </p:spPr>
        <p:txBody>
          <a:bodyPr wrap="square">
            <a:spAutoFit/>
          </a:bodyPr>
          <a:lstStyle/>
          <a:p>
            <a:pPr algn="l"/>
            <a:r>
              <a:rPr sz="650" b="0">
                <a:solidFill>
                  <a:srgbClr val="444444"/>
                </a:solidFill>
              </a:rPr>
              <a:t>Data + Ingestion</a:t>
            </a:r>
          </a:p>
        </p:txBody>
      </p:sp>
      <p:sp>
        <p:nvSpPr>
          <p:cNvPr id="68" name="TextBox 67"/>
          <p:cNvSpPr txBox="1"/>
          <p:nvPr/>
        </p:nvSpPr>
        <p:spPr>
          <a:xfrm>
            <a:off x="2084831" y="4690872"/>
            <a:ext cx="1344168" cy="182880"/>
          </a:xfrm>
          <a:prstGeom prst="rect">
            <a:avLst/>
          </a:prstGeom>
          <a:noFill/>
        </p:spPr>
        <p:txBody>
          <a:bodyPr wrap="square">
            <a:spAutoFit/>
          </a:bodyPr>
          <a:lstStyle/>
          <a:p>
            <a:pPr algn="l"/>
            <a:r>
              <a:rPr sz="1050" b="1">
                <a:solidFill>
                  <a:srgbClr val="000000"/>
                </a:solidFill>
              </a:rPr>
              <a:t>Day 2</a:t>
            </a:r>
          </a:p>
        </p:txBody>
      </p:sp>
      <p:sp>
        <p:nvSpPr>
          <p:cNvPr id="69" name="TextBox 68"/>
          <p:cNvSpPr txBox="1"/>
          <p:nvPr/>
        </p:nvSpPr>
        <p:spPr>
          <a:xfrm>
            <a:off x="2084831" y="4882896"/>
            <a:ext cx="1344168" cy="146304"/>
          </a:xfrm>
          <a:prstGeom prst="rect">
            <a:avLst/>
          </a:prstGeom>
          <a:noFill/>
        </p:spPr>
        <p:txBody>
          <a:bodyPr wrap="square">
            <a:spAutoFit/>
          </a:bodyPr>
          <a:lstStyle/>
          <a:p>
            <a:pPr algn="l"/>
            <a:r>
              <a:rPr sz="650" b="0">
                <a:solidFill>
                  <a:srgbClr val="444444"/>
                </a:solidFill>
              </a:rPr>
              <a:t>Vector Memory</a:t>
            </a:r>
          </a:p>
        </p:txBody>
      </p:sp>
      <p:sp>
        <p:nvSpPr>
          <p:cNvPr id="70" name="TextBox 69"/>
          <p:cNvSpPr txBox="1"/>
          <p:nvPr/>
        </p:nvSpPr>
        <p:spPr>
          <a:xfrm>
            <a:off x="3749039" y="4690872"/>
            <a:ext cx="1344168" cy="182880"/>
          </a:xfrm>
          <a:prstGeom prst="rect">
            <a:avLst/>
          </a:prstGeom>
          <a:noFill/>
        </p:spPr>
        <p:txBody>
          <a:bodyPr wrap="square">
            <a:spAutoFit/>
          </a:bodyPr>
          <a:lstStyle/>
          <a:p>
            <a:pPr algn="l"/>
            <a:r>
              <a:rPr sz="1050" b="1">
                <a:solidFill>
                  <a:srgbClr val="000000"/>
                </a:solidFill>
              </a:rPr>
              <a:t>Day 3</a:t>
            </a:r>
          </a:p>
        </p:txBody>
      </p:sp>
      <p:sp>
        <p:nvSpPr>
          <p:cNvPr id="71" name="TextBox 70"/>
          <p:cNvSpPr txBox="1"/>
          <p:nvPr/>
        </p:nvSpPr>
        <p:spPr>
          <a:xfrm>
            <a:off x="3749039" y="4882896"/>
            <a:ext cx="1344168" cy="146304"/>
          </a:xfrm>
          <a:prstGeom prst="rect">
            <a:avLst/>
          </a:prstGeom>
          <a:noFill/>
        </p:spPr>
        <p:txBody>
          <a:bodyPr wrap="square">
            <a:spAutoFit/>
          </a:bodyPr>
          <a:lstStyle/>
          <a:p>
            <a:pPr algn="l"/>
            <a:r>
              <a:rPr sz="650" b="0">
                <a:solidFill>
                  <a:srgbClr val="444444"/>
                </a:solidFill>
              </a:rPr>
              <a:t>Claude RCA Live</a:t>
            </a:r>
          </a:p>
        </p:txBody>
      </p:sp>
      <p:sp>
        <p:nvSpPr>
          <p:cNvPr id="72" name="TextBox 71"/>
          <p:cNvSpPr txBox="1"/>
          <p:nvPr/>
        </p:nvSpPr>
        <p:spPr>
          <a:xfrm>
            <a:off x="5413248" y="4690872"/>
            <a:ext cx="1344168" cy="182880"/>
          </a:xfrm>
          <a:prstGeom prst="rect">
            <a:avLst/>
          </a:prstGeom>
          <a:noFill/>
        </p:spPr>
        <p:txBody>
          <a:bodyPr wrap="square">
            <a:spAutoFit/>
          </a:bodyPr>
          <a:lstStyle/>
          <a:p>
            <a:pPr algn="l"/>
            <a:r>
              <a:rPr sz="1050" b="1">
                <a:solidFill>
                  <a:srgbClr val="000000"/>
                </a:solidFill>
              </a:rPr>
              <a:t>Day 4</a:t>
            </a:r>
          </a:p>
        </p:txBody>
      </p:sp>
      <p:sp>
        <p:nvSpPr>
          <p:cNvPr id="73" name="TextBox 72"/>
          <p:cNvSpPr txBox="1"/>
          <p:nvPr/>
        </p:nvSpPr>
        <p:spPr>
          <a:xfrm>
            <a:off x="5413248" y="4882896"/>
            <a:ext cx="1344168" cy="146304"/>
          </a:xfrm>
          <a:prstGeom prst="rect">
            <a:avLst/>
          </a:prstGeom>
          <a:noFill/>
        </p:spPr>
        <p:txBody>
          <a:bodyPr wrap="square">
            <a:spAutoFit/>
          </a:bodyPr>
          <a:lstStyle/>
          <a:p>
            <a:pPr algn="l"/>
            <a:r>
              <a:rPr sz="650" b="0">
                <a:solidFill>
                  <a:srgbClr val="444444"/>
                </a:solidFill>
              </a:rPr>
              <a:t>Giskard Validated</a:t>
            </a:r>
          </a:p>
        </p:txBody>
      </p:sp>
      <p:sp>
        <p:nvSpPr>
          <p:cNvPr id="74" name="TextBox 73"/>
          <p:cNvSpPr txBox="1"/>
          <p:nvPr/>
        </p:nvSpPr>
        <p:spPr>
          <a:xfrm>
            <a:off x="7077456" y="4690872"/>
            <a:ext cx="1344168" cy="182880"/>
          </a:xfrm>
          <a:prstGeom prst="rect">
            <a:avLst/>
          </a:prstGeom>
          <a:noFill/>
        </p:spPr>
        <p:txBody>
          <a:bodyPr wrap="square">
            <a:spAutoFit/>
          </a:bodyPr>
          <a:lstStyle/>
          <a:p>
            <a:pPr algn="l"/>
            <a:r>
              <a:rPr sz="1050" b="1">
                <a:solidFill>
                  <a:srgbClr val="000000"/>
                </a:solidFill>
              </a:rPr>
              <a:t>Day 5</a:t>
            </a:r>
          </a:p>
        </p:txBody>
      </p:sp>
      <p:sp>
        <p:nvSpPr>
          <p:cNvPr id="75" name="TextBox 74"/>
          <p:cNvSpPr txBox="1"/>
          <p:nvPr/>
        </p:nvSpPr>
        <p:spPr>
          <a:xfrm>
            <a:off x="7077456" y="4882896"/>
            <a:ext cx="1344168" cy="146304"/>
          </a:xfrm>
          <a:prstGeom prst="rect">
            <a:avLst/>
          </a:prstGeom>
          <a:noFill/>
        </p:spPr>
        <p:txBody>
          <a:bodyPr wrap="square">
            <a:spAutoFit/>
          </a:bodyPr>
          <a:lstStyle/>
          <a:p>
            <a:pPr algn="l"/>
            <a:r>
              <a:rPr sz="650" b="0">
                <a:solidFill>
                  <a:srgbClr val="444444"/>
                </a:solidFill>
              </a:rPr>
              <a:t>Demo Ready</a:t>
            </a:r>
          </a:p>
        </p:txBody>
      </p:sp>
      <p:sp>
        <p:nvSpPr>
          <p:cNvPr id="76" name="Rectangle 75"/>
          <p:cNvSpPr/>
          <p:nvPr/>
        </p:nvSpPr>
        <p:spPr>
          <a:xfrm>
            <a:off x="2066543" y="4690872"/>
            <a:ext cx="4572" cy="2926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3730752" y="4690872"/>
            <a:ext cx="4572" cy="2926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5394960" y="4690872"/>
            <a:ext cx="4572" cy="2926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7059168" y="4690872"/>
            <a:ext cx="4572" cy="2926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Shape 2">
            <a:extLst>
              <a:ext uri="{FF2B5EF4-FFF2-40B4-BE49-F238E27FC236}">
                <a16:creationId xmlns:a16="http://schemas.microsoft.com/office/drawing/2014/main" id="{36EC2EBD-8D30-FCAB-789C-EE1C0C7945A1}"/>
              </a:ext>
            </a:extLst>
          </p:cNvPr>
          <p:cNvSpPr/>
          <p:nvPr/>
        </p:nvSpPr>
        <p:spPr>
          <a:xfrm>
            <a:off x="8229600" y="73153"/>
            <a:ext cx="723900" cy="649222"/>
          </a:xfrm>
          <a:prstGeom prst="ellipse">
            <a:avLst/>
          </a:prstGeom>
          <a:solidFill>
            <a:srgbClr val="FFFFFF"/>
          </a:solidFill>
          <a:ln w="25400">
            <a:solidFill>
              <a:srgbClr val="C9A84C"/>
            </a:solidFill>
            <a:prstDash val="solid"/>
          </a:ln>
        </p:spPr>
        <p:txBody>
          <a:bodyPr/>
          <a:lstStyle/>
          <a:p>
            <a:r>
              <a:rPr lang="en-US" dirty="0"/>
              <a:t>OFI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84048" y="118872"/>
            <a:ext cx="7680960" cy="329184"/>
          </a:xfrm>
          <a:prstGeom prst="rect">
            <a:avLst/>
          </a:prstGeom>
          <a:noFill/>
        </p:spPr>
        <p:txBody>
          <a:bodyPr wrap="square">
            <a:spAutoFit/>
          </a:bodyPr>
          <a:lstStyle/>
          <a:p>
            <a:pPr algn="l"/>
            <a:r>
              <a:rPr sz="1900" b="1">
                <a:solidFill>
                  <a:srgbClr val="000000"/>
                </a:solidFill>
              </a:rPr>
              <a:t>Challenges &amp; Business Value</a:t>
            </a:r>
          </a:p>
        </p:txBody>
      </p:sp>
      <p:sp>
        <p:nvSpPr>
          <p:cNvPr id="3" name="TextBox 2"/>
          <p:cNvSpPr txBox="1"/>
          <p:nvPr/>
        </p:nvSpPr>
        <p:spPr>
          <a:xfrm>
            <a:off x="384048" y="457200"/>
            <a:ext cx="7772400" cy="164592"/>
          </a:xfrm>
          <a:prstGeom prst="rect">
            <a:avLst/>
          </a:prstGeom>
          <a:noFill/>
        </p:spPr>
        <p:txBody>
          <a:bodyPr wrap="square">
            <a:spAutoFit/>
          </a:bodyPr>
          <a:lstStyle/>
          <a:p>
            <a:pPr algn="l"/>
            <a:r>
              <a:rPr sz="850" b="0">
                <a:solidFill>
                  <a:srgbClr val="CCA23F"/>
                </a:solidFill>
              </a:rPr>
              <a:t>Why AI is Needed  ·  What Ofi Gains</a:t>
            </a:r>
          </a:p>
        </p:txBody>
      </p:sp>
      <p:sp>
        <p:nvSpPr>
          <p:cNvPr id="4" name="Rectangle 3"/>
          <p:cNvSpPr/>
          <p:nvPr/>
        </p:nvSpPr>
        <p:spPr>
          <a:xfrm>
            <a:off x="384048" y="658368"/>
            <a:ext cx="8375904"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645152" y="749808"/>
            <a:ext cx="4572" cy="3895344"/>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84048" y="777240"/>
            <a:ext cx="36576" cy="210312"/>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5488" y="777240"/>
            <a:ext cx="4133087" cy="210312"/>
          </a:xfrm>
          <a:prstGeom prst="rect">
            <a:avLst/>
          </a:prstGeom>
          <a:noFill/>
        </p:spPr>
        <p:txBody>
          <a:bodyPr wrap="square">
            <a:spAutoFit/>
          </a:bodyPr>
          <a:lstStyle/>
          <a:p>
            <a:pPr algn="l"/>
            <a:r>
              <a:rPr sz="1200" b="1">
                <a:solidFill>
                  <a:srgbClr val="000000"/>
                </a:solidFill>
              </a:rPr>
              <a:t>Operational Challenges</a:t>
            </a:r>
          </a:p>
        </p:txBody>
      </p:sp>
      <p:sp>
        <p:nvSpPr>
          <p:cNvPr id="8" name="Rectangle 7"/>
          <p:cNvSpPr/>
          <p:nvPr/>
        </p:nvSpPr>
        <p:spPr>
          <a:xfrm>
            <a:off x="384048" y="996695"/>
            <a:ext cx="4133087"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84048" y="1024128"/>
            <a:ext cx="36576" cy="566928"/>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776" y="1042416"/>
            <a:ext cx="4005072" cy="182880"/>
          </a:xfrm>
          <a:prstGeom prst="rect">
            <a:avLst/>
          </a:prstGeom>
          <a:noFill/>
        </p:spPr>
        <p:txBody>
          <a:bodyPr wrap="square">
            <a:spAutoFit/>
          </a:bodyPr>
          <a:lstStyle/>
          <a:p>
            <a:pPr algn="l"/>
            <a:r>
              <a:rPr sz="900" b="1">
                <a:solidFill>
                  <a:srgbClr val="000000"/>
                </a:solidFill>
              </a:rPr>
              <a:t>Alert Fatigue</a:t>
            </a:r>
          </a:p>
        </p:txBody>
      </p:sp>
      <p:sp>
        <p:nvSpPr>
          <p:cNvPr id="11" name="TextBox 10"/>
          <p:cNvSpPr txBox="1"/>
          <p:nvPr/>
        </p:nvSpPr>
        <p:spPr>
          <a:xfrm>
            <a:off x="493776" y="1243584"/>
            <a:ext cx="4005072" cy="310896"/>
          </a:xfrm>
          <a:prstGeom prst="rect">
            <a:avLst/>
          </a:prstGeom>
          <a:noFill/>
        </p:spPr>
        <p:txBody>
          <a:bodyPr wrap="square">
            <a:spAutoFit/>
          </a:bodyPr>
          <a:lstStyle/>
          <a:p>
            <a:pPr algn="l"/>
            <a:r>
              <a:rPr sz="800" b="0" dirty="0">
                <a:solidFill>
                  <a:srgbClr val="444444"/>
                </a:solidFill>
              </a:rPr>
              <a:t>Engineers receive hundreds of alerts per day. Correlation is manual, time-consuming and error-prone.</a:t>
            </a:r>
          </a:p>
        </p:txBody>
      </p:sp>
      <p:sp>
        <p:nvSpPr>
          <p:cNvPr id="12" name="Rectangle 11"/>
          <p:cNvSpPr/>
          <p:nvPr/>
        </p:nvSpPr>
        <p:spPr>
          <a:xfrm>
            <a:off x="384048" y="1682496"/>
            <a:ext cx="36576" cy="566928"/>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93776" y="1700784"/>
            <a:ext cx="4005072" cy="182880"/>
          </a:xfrm>
          <a:prstGeom prst="rect">
            <a:avLst/>
          </a:prstGeom>
          <a:noFill/>
        </p:spPr>
        <p:txBody>
          <a:bodyPr wrap="square">
            <a:spAutoFit/>
          </a:bodyPr>
          <a:lstStyle/>
          <a:p>
            <a:pPr algn="l"/>
            <a:r>
              <a:rPr sz="900" b="1">
                <a:solidFill>
                  <a:srgbClr val="000000"/>
                </a:solidFill>
              </a:rPr>
              <a:t>Slow MTTR</a:t>
            </a:r>
          </a:p>
        </p:txBody>
      </p:sp>
      <p:sp>
        <p:nvSpPr>
          <p:cNvPr id="14" name="TextBox 13"/>
          <p:cNvSpPr txBox="1"/>
          <p:nvPr/>
        </p:nvSpPr>
        <p:spPr>
          <a:xfrm>
            <a:off x="493776" y="1901952"/>
            <a:ext cx="4005072" cy="310896"/>
          </a:xfrm>
          <a:prstGeom prst="rect">
            <a:avLst/>
          </a:prstGeom>
          <a:noFill/>
        </p:spPr>
        <p:txBody>
          <a:bodyPr wrap="square">
            <a:spAutoFit/>
          </a:bodyPr>
          <a:lstStyle/>
          <a:p>
            <a:pPr algn="l"/>
            <a:r>
              <a:rPr sz="800" b="0">
                <a:solidFill>
                  <a:srgbClr val="444444"/>
                </a:solidFill>
              </a:rPr>
              <a:t>Mean Time To Resolution averages 2–4 hours per incident. Senior engineers pulled from strategic work.</a:t>
            </a:r>
          </a:p>
        </p:txBody>
      </p:sp>
      <p:sp>
        <p:nvSpPr>
          <p:cNvPr id="15" name="Rectangle 14"/>
          <p:cNvSpPr/>
          <p:nvPr/>
        </p:nvSpPr>
        <p:spPr>
          <a:xfrm>
            <a:off x="384048" y="2340864"/>
            <a:ext cx="36576" cy="566928"/>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93776" y="2359152"/>
            <a:ext cx="4005072" cy="182880"/>
          </a:xfrm>
          <a:prstGeom prst="rect">
            <a:avLst/>
          </a:prstGeom>
          <a:noFill/>
        </p:spPr>
        <p:txBody>
          <a:bodyPr wrap="square">
            <a:spAutoFit/>
          </a:bodyPr>
          <a:lstStyle/>
          <a:p>
            <a:pPr algn="l"/>
            <a:r>
              <a:rPr sz="900" b="1">
                <a:solidFill>
                  <a:srgbClr val="000000"/>
                </a:solidFill>
              </a:rPr>
              <a:t>No Institutional Memory</a:t>
            </a:r>
          </a:p>
        </p:txBody>
      </p:sp>
      <p:sp>
        <p:nvSpPr>
          <p:cNvPr id="17" name="TextBox 16"/>
          <p:cNvSpPr txBox="1"/>
          <p:nvPr/>
        </p:nvSpPr>
        <p:spPr>
          <a:xfrm>
            <a:off x="493776" y="2560320"/>
            <a:ext cx="4005072" cy="310896"/>
          </a:xfrm>
          <a:prstGeom prst="rect">
            <a:avLst/>
          </a:prstGeom>
          <a:noFill/>
        </p:spPr>
        <p:txBody>
          <a:bodyPr wrap="square">
            <a:spAutoFit/>
          </a:bodyPr>
          <a:lstStyle/>
          <a:p>
            <a:pPr algn="l"/>
            <a:r>
              <a:rPr sz="800" b="0">
                <a:solidFill>
                  <a:srgbClr val="444444"/>
                </a:solidFill>
              </a:rPr>
              <a:t>Every incident is investigated from scratch. Teams repeat the same 3-hour RCA on recurring failures.</a:t>
            </a:r>
          </a:p>
        </p:txBody>
      </p:sp>
      <p:sp>
        <p:nvSpPr>
          <p:cNvPr id="18" name="Rectangle 17"/>
          <p:cNvSpPr/>
          <p:nvPr/>
        </p:nvSpPr>
        <p:spPr>
          <a:xfrm>
            <a:off x="384048" y="2999232"/>
            <a:ext cx="36576" cy="566928"/>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3017520"/>
            <a:ext cx="4005072" cy="182880"/>
          </a:xfrm>
          <a:prstGeom prst="rect">
            <a:avLst/>
          </a:prstGeom>
          <a:noFill/>
        </p:spPr>
        <p:txBody>
          <a:bodyPr wrap="square">
            <a:spAutoFit/>
          </a:bodyPr>
          <a:lstStyle/>
          <a:p>
            <a:pPr algn="l"/>
            <a:r>
              <a:rPr sz="900" b="1">
                <a:solidFill>
                  <a:srgbClr val="000000"/>
                </a:solidFill>
              </a:rPr>
              <a:t>Disconnected Tooling</a:t>
            </a:r>
          </a:p>
        </p:txBody>
      </p:sp>
      <p:sp>
        <p:nvSpPr>
          <p:cNvPr id="20" name="TextBox 19"/>
          <p:cNvSpPr txBox="1"/>
          <p:nvPr/>
        </p:nvSpPr>
        <p:spPr>
          <a:xfrm>
            <a:off x="493776" y="3218688"/>
            <a:ext cx="4005072" cy="310896"/>
          </a:xfrm>
          <a:prstGeom prst="rect">
            <a:avLst/>
          </a:prstGeom>
          <a:noFill/>
        </p:spPr>
        <p:txBody>
          <a:bodyPr wrap="square">
            <a:spAutoFit/>
          </a:bodyPr>
          <a:lstStyle/>
          <a:p>
            <a:pPr algn="l"/>
            <a:r>
              <a:rPr sz="800" b="0">
                <a:solidFill>
                  <a:srgbClr val="444444"/>
                </a:solidFill>
              </a:rPr>
              <a:t>Logs in one system, tickets in another, deployments in a third. No unified view exists.</a:t>
            </a:r>
          </a:p>
        </p:txBody>
      </p:sp>
      <p:sp>
        <p:nvSpPr>
          <p:cNvPr id="21" name="Rectangle 20"/>
          <p:cNvSpPr/>
          <p:nvPr/>
        </p:nvSpPr>
        <p:spPr>
          <a:xfrm>
            <a:off x="384048" y="3657600"/>
            <a:ext cx="36576" cy="566928"/>
          </a:xfrm>
          <a:prstGeom prst="rect">
            <a:avLst/>
          </a:prstGeom>
          <a:solidFill>
            <a:srgbClr val="CCA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93776" y="3675887"/>
            <a:ext cx="4005072" cy="182880"/>
          </a:xfrm>
          <a:prstGeom prst="rect">
            <a:avLst/>
          </a:prstGeom>
          <a:noFill/>
        </p:spPr>
        <p:txBody>
          <a:bodyPr wrap="square">
            <a:spAutoFit/>
          </a:bodyPr>
          <a:lstStyle/>
          <a:p>
            <a:pPr algn="l"/>
            <a:r>
              <a:rPr sz="900" b="1">
                <a:solidFill>
                  <a:srgbClr val="000000"/>
                </a:solidFill>
              </a:rPr>
              <a:t>Trust Gap in AI</a:t>
            </a:r>
          </a:p>
        </p:txBody>
      </p:sp>
      <p:sp>
        <p:nvSpPr>
          <p:cNvPr id="23" name="TextBox 22"/>
          <p:cNvSpPr txBox="1"/>
          <p:nvPr/>
        </p:nvSpPr>
        <p:spPr>
          <a:xfrm>
            <a:off x="493776" y="3877056"/>
            <a:ext cx="4005072" cy="310896"/>
          </a:xfrm>
          <a:prstGeom prst="rect">
            <a:avLst/>
          </a:prstGeom>
          <a:noFill/>
        </p:spPr>
        <p:txBody>
          <a:bodyPr wrap="square">
            <a:spAutoFit/>
          </a:bodyPr>
          <a:lstStyle/>
          <a:p>
            <a:pPr algn="l"/>
            <a:r>
              <a:rPr sz="800" b="0">
                <a:solidFill>
                  <a:srgbClr val="444444"/>
                </a:solidFill>
              </a:rPr>
              <a:t>Teams fear AI hallucinations. No way to know if the AI reasoning is grounded in actual evidence.</a:t>
            </a:r>
          </a:p>
        </p:txBody>
      </p:sp>
      <p:sp>
        <p:nvSpPr>
          <p:cNvPr id="24" name="Rectangle 23"/>
          <p:cNvSpPr/>
          <p:nvPr/>
        </p:nvSpPr>
        <p:spPr>
          <a:xfrm>
            <a:off x="4773168" y="777240"/>
            <a:ext cx="36576" cy="210312"/>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64607" y="777240"/>
            <a:ext cx="3986784" cy="210312"/>
          </a:xfrm>
          <a:prstGeom prst="rect">
            <a:avLst/>
          </a:prstGeom>
          <a:noFill/>
        </p:spPr>
        <p:txBody>
          <a:bodyPr wrap="square">
            <a:spAutoFit/>
          </a:bodyPr>
          <a:lstStyle/>
          <a:p>
            <a:pPr algn="l"/>
            <a:r>
              <a:rPr sz="1200" b="1">
                <a:solidFill>
                  <a:srgbClr val="000000"/>
                </a:solidFill>
              </a:rPr>
              <a:t>Business Value for Ofi</a:t>
            </a:r>
          </a:p>
        </p:txBody>
      </p:sp>
      <p:sp>
        <p:nvSpPr>
          <p:cNvPr id="26" name="Rectangle 25"/>
          <p:cNvSpPr/>
          <p:nvPr/>
        </p:nvSpPr>
        <p:spPr>
          <a:xfrm>
            <a:off x="4773168" y="996695"/>
            <a:ext cx="3986784"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773168" y="1024128"/>
            <a:ext cx="36576" cy="566928"/>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82896" y="1042416"/>
            <a:ext cx="3840480" cy="182880"/>
          </a:xfrm>
          <a:prstGeom prst="rect">
            <a:avLst/>
          </a:prstGeom>
          <a:noFill/>
        </p:spPr>
        <p:txBody>
          <a:bodyPr wrap="square">
            <a:spAutoFit/>
          </a:bodyPr>
          <a:lstStyle/>
          <a:p>
            <a:pPr algn="l"/>
            <a:r>
              <a:rPr sz="900" b="1">
                <a:solidFill>
                  <a:srgbClr val="000000"/>
                </a:solidFill>
              </a:rPr>
              <a:t>20× Faster MTTR</a:t>
            </a:r>
          </a:p>
        </p:txBody>
      </p:sp>
      <p:sp>
        <p:nvSpPr>
          <p:cNvPr id="29" name="TextBox 28"/>
          <p:cNvSpPr txBox="1"/>
          <p:nvPr/>
        </p:nvSpPr>
        <p:spPr>
          <a:xfrm>
            <a:off x="4882896" y="1243584"/>
            <a:ext cx="3840480" cy="310896"/>
          </a:xfrm>
          <a:prstGeom prst="rect">
            <a:avLst/>
          </a:prstGeom>
          <a:noFill/>
        </p:spPr>
        <p:txBody>
          <a:bodyPr wrap="square">
            <a:spAutoFit/>
          </a:bodyPr>
          <a:lstStyle/>
          <a:p>
            <a:pPr algn="l"/>
            <a:r>
              <a:rPr sz="800" b="0">
                <a:solidFill>
                  <a:srgbClr val="444444"/>
                </a:solidFill>
              </a:rPr>
              <a:t>2–4 hours → under 6 minutes. Operations teams recover faster. Business decisions no longer stall on incident resolution.</a:t>
            </a:r>
          </a:p>
        </p:txBody>
      </p:sp>
      <p:sp>
        <p:nvSpPr>
          <p:cNvPr id="30" name="Rectangle 29"/>
          <p:cNvSpPr/>
          <p:nvPr/>
        </p:nvSpPr>
        <p:spPr>
          <a:xfrm>
            <a:off x="4773168" y="1682496"/>
            <a:ext cx="36576" cy="566928"/>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882896" y="1700784"/>
            <a:ext cx="3840480" cy="182880"/>
          </a:xfrm>
          <a:prstGeom prst="rect">
            <a:avLst/>
          </a:prstGeom>
          <a:noFill/>
        </p:spPr>
        <p:txBody>
          <a:bodyPr wrap="square">
            <a:spAutoFit/>
          </a:bodyPr>
          <a:lstStyle/>
          <a:p>
            <a:pPr algn="l"/>
            <a:r>
              <a:rPr sz="900" b="1">
                <a:solidFill>
                  <a:srgbClr val="000000"/>
                </a:solidFill>
              </a:rPr>
              <a:t>$50K–$500K Saved</a:t>
            </a:r>
          </a:p>
        </p:txBody>
      </p:sp>
      <p:sp>
        <p:nvSpPr>
          <p:cNvPr id="32" name="TextBox 31"/>
          <p:cNvSpPr txBox="1"/>
          <p:nvPr/>
        </p:nvSpPr>
        <p:spPr>
          <a:xfrm>
            <a:off x="4882896" y="1901952"/>
            <a:ext cx="3840480" cy="310896"/>
          </a:xfrm>
          <a:prstGeom prst="rect">
            <a:avLst/>
          </a:prstGeom>
          <a:noFill/>
        </p:spPr>
        <p:txBody>
          <a:bodyPr wrap="square">
            <a:spAutoFit/>
          </a:bodyPr>
          <a:lstStyle/>
          <a:p>
            <a:pPr algn="l"/>
            <a:r>
              <a:rPr sz="800" b="0">
                <a:solidFill>
                  <a:srgbClr val="444444"/>
                </a:solidFill>
              </a:rPr>
              <a:t>Every avoided major incident saves between $50K and $500K in downtime costs, SLA penalties and engineering effort.</a:t>
            </a:r>
          </a:p>
        </p:txBody>
      </p:sp>
      <p:sp>
        <p:nvSpPr>
          <p:cNvPr id="33" name="Rectangle 32"/>
          <p:cNvSpPr/>
          <p:nvPr/>
        </p:nvSpPr>
        <p:spPr>
          <a:xfrm>
            <a:off x="4773168" y="2340864"/>
            <a:ext cx="36576" cy="566928"/>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882896" y="2359152"/>
            <a:ext cx="3840480" cy="182880"/>
          </a:xfrm>
          <a:prstGeom prst="rect">
            <a:avLst/>
          </a:prstGeom>
          <a:noFill/>
        </p:spPr>
        <p:txBody>
          <a:bodyPr wrap="square">
            <a:spAutoFit/>
          </a:bodyPr>
          <a:lstStyle/>
          <a:p>
            <a:pPr algn="l"/>
            <a:r>
              <a:rPr sz="900" b="1">
                <a:solidFill>
                  <a:srgbClr val="000000"/>
                </a:solidFill>
              </a:rPr>
              <a:t>Institutional Memory</a:t>
            </a:r>
          </a:p>
        </p:txBody>
      </p:sp>
      <p:sp>
        <p:nvSpPr>
          <p:cNvPr id="35" name="TextBox 34"/>
          <p:cNvSpPr txBox="1"/>
          <p:nvPr/>
        </p:nvSpPr>
        <p:spPr>
          <a:xfrm>
            <a:off x="4882896" y="2560320"/>
            <a:ext cx="3840480" cy="310896"/>
          </a:xfrm>
          <a:prstGeom prst="rect">
            <a:avLst/>
          </a:prstGeom>
          <a:noFill/>
        </p:spPr>
        <p:txBody>
          <a:bodyPr wrap="square">
            <a:spAutoFit/>
          </a:bodyPr>
          <a:lstStyle/>
          <a:p>
            <a:pPr algn="l"/>
            <a:r>
              <a:rPr sz="800" b="0">
                <a:solidFill>
                  <a:srgbClr val="444444"/>
                </a:solidFill>
              </a:rPr>
              <a:t>ChromaDB stores every resolved incident. The system gets smarter with each case — repeat incidents resolved in seconds.</a:t>
            </a:r>
          </a:p>
        </p:txBody>
      </p:sp>
      <p:sp>
        <p:nvSpPr>
          <p:cNvPr id="36" name="Rectangle 35"/>
          <p:cNvSpPr/>
          <p:nvPr/>
        </p:nvSpPr>
        <p:spPr>
          <a:xfrm>
            <a:off x="4773168" y="2999232"/>
            <a:ext cx="36576" cy="566928"/>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882896" y="3017520"/>
            <a:ext cx="3840480" cy="182880"/>
          </a:xfrm>
          <a:prstGeom prst="rect">
            <a:avLst/>
          </a:prstGeom>
          <a:noFill/>
        </p:spPr>
        <p:txBody>
          <a:bodyPr wrap="square">
            <a:spAutoFit/>
          </a:bodyPr>
          <a:lstStyle/>
          <a:p>
            <a:pPr algn="l"/>
            <a:r>
              <a:rPr sz="900" b="1">
                <a:solidFill>
                  <a:srgbClr val="000000"/>
                </a:solidFill>
              </a:rPr>
              <a:t>AI You Can Trust</a:t>
            </a:r>
          </a:p>
        </p:txBody>
      </p:sp>
      <p:sp>
        <p:nvSpPr>
          <p:cNvPr id="38" name="TextBox 37"/>
          <p:cNvSpPr txBox="1"/>
          <p:nvPr/>
        </p:nvSpPr>
        <p:spPr>
          <a:xfrm>
            <a:off x="4882896" y="3218688"/>
            <a:ext cx="3840480" cy="310896"/>
          </a:xfrm>
          <a:prstGeom prst="rect">
            <a:avLst/>
          </a:prstGeom>
          <a:noFill/>
        </p:spPr>
        <p:txBody>
          <a:bodyPr wrap="square">
            <a:spAutoFit/>
          </a:bodyPr>
          <a:lstStyle/>
          <a:p>
            <a:pPr algn="l"/>
            <a:r>
              <a:rPr sz="800" b="0">
                <a:solidFill>
                  <a:srgbClr val="444444"/>
                </a:solidFill>
              </a:rPr>
              <a:t>Giskard validates every AI output before it reaches an engineer. Confidence scores replace guesswork with evidence.</a:t>
            </a:r>
          </a:p>
        </p:txBody>
      </p:sp>
      <p:sp>
        <p:nvSpPr>
          <p:cNvPr id="39" name="Rectangle 38"/>
          <p:cNvSpPr/>
          <p:nvPr/>
        </p:nvSpPr>
        <p:spPr>
          <a:xfrm>
            <a:off x="4773168" y="3657600"/>
            <a:ext cx="36576" cy="566928"/>
          </a:xfrm>
          <a:prstGeom prst="rect">
            <a:avLst/>
          </a:prstGeom>
          <a:solidFill>
            <a:srgbClr val="136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882896" y="3675887"/>
            <a:ext cx="3840480" cy="182880"/>
          </a:xfrm>
          <a:prstGeom prst="rect">
            <a:avLst/>
          </a:prstGeom>
          <a:noFill/>
        </p:spPr>
        <p:txBody>
          <a:bodyPr wrap="square">
            <a:spAutoFit/>
          </a:bodyPr>
          <a:lstStyle/>
          <a:p>
            <a:pPr algn="l"/>
            <a:r>
              <a:rPr sz="900" b="1" dirty="0">
                <a:solidFill>
                  <a:srgbClr val="000000"/>
                </a:solidFill>
              </a:rPr>
              <a:t>5-Day POC Delivery</a:t>
            </a:r>
          </a:p>
        </p:txBody>
      </p:sp>
      <p:sp>
        <p:nvSpPr>
          <p:cNvPr id="41" name="TextBox 40"/>
          <p:cNvSpPr txBox="1"/>
          <p:nvPr/>
        </p:nvSpPr>
        <p:spPr>
          <a:xfrm>
            <a:off x="4882896" y="3877056"/>
            <a:ext cx="3840480" cy="310896"/>
          </a:xfrm>
          <a:prstGeom prst="rect">
            <a:avLst/>
          </a:prstGeom>
          <a:noFill/>
        </p:spPr>
        <p:txBody>
          <a:bodyPr wrap="square">
            <a:spAutoFit/>
          </a:bodyPr>
          <a:lstStyle/>
          <a:p>
            <a:pPr algn="l"/>
            <a:r>
              <a:rPr sz="800" b="0">
                <a:solidFill>
                  <a:srgbClr val="444444"/>
                </a:solidFill>
              </a:rPr>
              <a:t>No cloud infra required. Fully local stack. Running demo in 5 days — decision-ready before the sprint ends.</a:t>
            </a:r>
          </a:p>
        </p:txBody>
      </p:sp>
      <p:sp>
        <p:nvSpPr>
          <p:cNvPr id="42" name="Rectangle 41"/>
          <p:cNvSpPr/>
          <p:nvPr/>
        </p:nvSpPr>
        <p:spPr>
          <a:xfrm>
            <a:off x="384048" y="4645152"/>
            <a:ext cx="8375904"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384048" y="4645152"/>
            <a:ext cx="8375904" cy="384048"/>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75488" y="4681728"/>
            <a:ext cx="8229600" cy="292608"/>
          </a:xfrm>
          <a:prstGeom prst="rect">
            <a:avLst/>
          </a:prstGeom>
          <a:noFill/>
        </p:spPr>
        <p:txBody>
          <a:bodyPr wrap="square">
            <a:spAutoFit/>
          </a:bodyPr>
          <a:lstStyle/>
          <a:p>
            <a:pPr algn="ctr"/>
            <a:r>
              <a:rPr sz="800" b="0">
                <a:solidFill>
                  <a:srgbClr val="FFFFFF"/>
                </a:solidFill>
              </a:rPr>
              <a:t>AI Incident Copilot  ·  Anthropic Claude  ·  Giskard AI  ·  ChromaDB  ·  LangChain  ·  FastAPI  ·  Streamlit  ·  Ofi</a:t>
            </a:r>
          </a:p>
        </p:txBody>
      </p:sp>
      <p:sp>
        <p:nvSpPr>
          <p:cNvPr id="45" name="Shape 2">
            <a:extLst>
              <a:ext uri="{FF2B5EF4-FFF2-40B4-BE49-F238E27FC236}">
                <a16:creationId xmlns:a16="http://schemas.microsoft.com/office/drawing/2014/main" id="{73EE5E7A-30C9-DAFC-06EE-5ADA6FEE0F66}"/>
              </a:ext>
            </a:extLst>
          </p:cNvPr>
          <p:cNvSpPr/>
          <p:nvPr/>
        </p:nvSpPr>
        <p:spPr>
          <a:xfrm>
            <a:off x="8229600" y="73153"/>
            <a:ext cx="723900" cy="649222"/>
          </a:xfrm>
          <a:prstGeom prst="ellipse">
            <a:avLst/>
          </a:prstGeom>
          <a:solidFill>
            <a:srgbClr val="FFFFFF"/>
          </a:solidFill>
          <a:ln w="25400">
            <a:solidFill>
              <a:srgbClr val="C9A84C"/>
            </a:solidFill>
            <a:prstDash val="solid"/>
          </a:ln>
        </p:spPr>
        <p:txBody>
          <a:bodyPr/>
          <a:lstStyle/>
          <a:p>
            <a:r>
              <a:rPr lang="en-US" dirty="0"/>
              <a:t>OFI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F317D33D57BF34097144D9403240050" ma:contentTypeVersion="9" ma:contentTypeDescription="Een nieuw document maken." ma:contentTypeScope="" ma:versionID="2c7ae082ef46e6ab8086ecb9de753cbf">
  <xsd:schema xmlns:xsd="http://www.w3.org/2001/XMLSchema" xmlns:xs="http://www.w3.org/2001/XMLSchema" xmlns:p="http://schemas.microsoft.com/office/2006/metadata/properties" xmlns:ns3="4449cf5d-843b-44c5-8ee1-845019ada4fd" targetNamespace="http://schemas.microsoft.com/office/2006/metadata/properties" ma:root="true" ma:fieldsID="132883e4d27f44631207ffe9e2b42d63" ns3:_="">
    <xsd:import namespace="4449cf5d-843b-44c5-8ee1-845019ada4fd"/>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9cf5d-843b-44c5-8ee1-845019ada4f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4449cf5d-843b-44c5-8ee1-845019ada4fd" xsi:nil="true"/>
  </documentManagement>
</p:properties>
</file>

<file path=customXml/itemProps1.xml><?xml version="1.0" encoding="utf-8"?>
<ds:datastoreItem xmlns:ds="http://schemas.openxmlformats.org/officeDocument/2006/customXml" ds:itemID="{3D8017EF-1FD6-48B9-85A2-960AA5302D1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9cf5d-843b-44c5-8ee1-845019ada4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7F7A897-A164-416D-B426-2304A10B4B51}">
  <ds:schemaRefs>
    <ds:schemaRef ds:uri="http://schemas.microsoft.com/sharepoint/v3/contenttype/forms"/>
  </ds:schemaRefs>
</ds:datastoreItem>
</file>

<file path=customXml/itemProps3.xml><?xml version="1.0" encoding="utf-8"?>
<ds:datastoreItem xmlns:ds="http://schemas.openxmlformats.org/officeDocument/2006/customXml" ds:itemID="{E2410F4D-A621-498F-9183-FBBEE7955FA8}">
  <ds:schemaRefs>
    <ds:schemaRef ds:uri="http://schemas.microsoft.com/office/2006/documentManagement/types"/>
    <ds:schemaRef ds:uri="http://purl.org/dc/terms/"/>
    <ds:schemaRef ds:uri="http://schemas.microsoft.com/office/2006/metadata/properties"/>
    <ds:schemaRef ds:uri="4449cf5d-843b-44c5-8ee1-845019ada4fd"/>
    <ds:schemaRef ds:uri="http://schemas.microsoft.com/office/infopath/2007/PartnerControls"/>
    <ds:schemaRef ds:uri="http://purl.org/dc/dcmitype/"/>
    <ds:schemaRef ds:uri="http://purl.org/dc/elements/1.1/"/>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26</TotalTime>
  <Words>1066</Words>
  <Application>Microsoft Office PowerPoint</Application>
  <PresentationFormat>On-screen Show (16:9)</PresentationFormat>
  <Paragraphs>158</Paragraphs>
  <Slides>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abcom</dc:creator>
  <cp:keywords/>
  <dc:description>generated using python-pptx</dc:description>
  <cp:lastModifiedBy>Vidisha Arvind</cp:lastModifiedBy>
  <cp:revision>7</cp:revision>
  <dcterms:created xsi:type="dcterms:W3CDTF">2013-01-27T09:14:16Z</dcterms:created>
  <dcterms:modified xsi:type="dcterms:W3CDTF">2026-05-26T05:05:04Z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0x010100DF317D33D57BF34097144D9403240050</vt:lpwstr>
  </property>
</Properties>
</file>